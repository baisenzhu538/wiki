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  <p:sldMasterId id="2147483661" r:id="rId9"/>
    <p:sldMasterId id="2147483662" r:id="rId10"/>
  </p:sldMasterIdLst>
  <p:notesMasterIdLst>
    <p:notesMasterId r:id="rId6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x="16256000" cy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Masters/slideMaster4.xml" Type="http://schemas.openxmlformats.org/officeDocument/2006/relationships/slideMaster"/><Relationship Id="rId11" Target="slides/slide1.xml" Type="http://schemas.openxmlformats.org/officeDocument/2006/relationships/slide"/><Relationship Id="rId12" Target="slides/slide2.xml" Type="http://schemas.openxmlformats.org/officeDocument/2006/relationships/slide"/><Relationship Id="rId13" Target="slides/slide3.xml" Type="http://schemas.openxmlformats.org/officeDocument/2006/relationships/slide"/><Relationship Id="rId14" Target="slides/slide4.xml" Type="http://schemas.openxmlformats.org/officeDocument/2006/relationships/slide"/><Relationship Id="rId15" Target="slides/slide5.xml" Type="http://schemas.openxmlformats.org/officeDocument/2006/relationships/slide"/><Relationship Id="rId16" Target="slides/slide6.xml" Type="http://schemas.openxmlformats.org/officeDocument/2006/relationships/slide"/><Relationship Id="rId17" Target="slides/slide7.xml" Type="http://schemas.openxmlformats.org/officeDocument/2006/relationships/slide"/><Relationship Id="rId18" Target="slides/slide8.xml" Type="http://schemas.openxmlformats.org/officeDocument/2006/relationships/slide"/><Relationship Id="rId19" Target="slides/slide9.xml" Type="http://schemas.openxmlformats.org/officeDocument/2006/relationships/slide"/><Relationship Id="rId2" Target="viewProps.xml" Type="http://schemas.openxmlformats.org/officeDocument/2006/relationships/viewProps"/><Relationship Id="rId20" Target="slides/slide10.xml" Type="http://schemas.openxmlformats.org/officeDocument/2006/relationships/slide"/><Relationship Id="rId21" Target="slides/slide11.xml" Type="http://schemas.openxmlformats.org/officeDocument/2006/relationships/slide"/><Relationship Id="rId22" Target="slides/slide12.xml" Type="http://schemas.openxmlformats.org/officeDocument/2006/relationships/slide"/><Relationship Id="rId23" Target="slides/slide13.xml" Type="http://schemas.openxmlformats.org/officeDocument/2006/relationships/slide"/><Relationship Id="rId24" Target="slides/slide14.xml" Type="http://schemas.openxmlformats.org/officeDocument/2006/relationships/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Masters/slideMaster3.xml" Type="http://schemas.openxmlformats.org/officeDocument/2006/relationships/slideMaster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4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" type="body" sz="quarter" hasCustomPrompt="true"/>
          </p:nvPr>
        </p:nvSpPr>
        <p:spPr>
          <a:xfrm rot="0" flipH="false" flipV="false">
            <a:off x="2032000" y="1496484"/>
            <a:ext cx="12192000" cy="318346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b" wrap="square" lIns="127000" rIns="127000" tIns="63500" bIns="63500">
            <a:spAutoFit/>
          </a:bodyPr>
          <a:lstStyle>
            <a:lvl1pPr algn="ctr">
              <a:lnSpc>
                <a:spcPct val="75000"/>
              </a:lnSpc>
              <a:defRPr sz="8000" b="fals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marL="0" indent="0">
              <a:lnSpc>
                <a:spcPct val="75000"/>
              </a:lnSpc>
            </a:pPr>
            <a:r>
              <a:rPr lang="en-US" b="false" i="false" strike="noStrike" u="none" sz="80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4" type="body" sz="quarter" hasCustomPrompt="true"/>
          </p:nvPr>
        </p:nvSpPr>
        <p:spPr>
          <a:xfrm rot="0" flipH="false" flipV="false">
            <a:off x="2032000" y="4802717"/>
            <a:ext cx="12192000" cy="2207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127000" rIns="127000" tIns="63500" bIns="63500">
            <a:spAutoFit/>
          </a:bodyPr>
          <a:lstStyle>
            <a:lvl1pPr algn="ctr">
              <a:lnSpc>
                <a:spcPct val="75000"/>
              </a:lnSpc>
              <a:defRPr sz="3200" b="fals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marL="0" indent="0">
              <a:lnSpc>
                <a:spcPct val="75000"/>
              </a:lnSpc>
            </a:pPr>
            <a:r>
              <a:rPr lang="en-US" b="false" i="false" strike="noStrike" u="none" sz="32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  <p:sp>
        <p:nvSpPr>
          <p:cNvPr name="AutoShape 4" id="4"/>
          <p:cNvSpPr/>
          <p:nvPr>
            <p:ph idx="5" type="body" sz="quarter" hasCustomPrompt="true"/>
          </p:nvPr>
        </p:nvSpPr>
        <p:spPr>
          <a:xfrm rot="0" flipH="false" flipV="false">
            <a:off x="11176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127000" rIns="127000" tIns="63500" bIns="63500">
            <a:spAutoFit/>
          </a:bodyPr>
          <a:lstStyle>
            <a:lvl1pPr algn="l">
              <a:lnSpc>
                <a:spcPct val="83333"/>
              </a:lnSpc>
              <a:defRPr sz="2400" b="false" i="false" u="none" strike="noStrike">
                <a:solidFill>
                  <a:srgbClr val="1F2329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83333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不支持改占位符</a:t>
            </a:r>
          </a:p>
        </p:txBody>
      </p:sp>
      <p:sp>
        <p:nvSpPr>
          <p:cNvPr name="AutoShape 5" id="5"/>
          <p:cNvSpPr/>
          <p:nvPr>
            <p:ph idx="6" type="body" sz="quarter" hasCustomPrompt="true"/>
          </p:nvPr>
        </p:nvSpPr>
        <p:spPr>
          <a:xfrm rot="0" flipH="false" flipV="false">
            <a:off x="5384800" y="8475133"/>
            <a:ext cx="54864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127000" rIns="127000" tIns="63500" bIns="63500">
            <a:spAutoFit/>
          </a:bodyPr>
          <a:lstStyle>
            <a:lvl1pPr algn="l">
              <a:lnSpc>
                <a:spcPct val="83333"/>
              </a:lnSpc>
              <a:defRPr sz="2400" b="false" i="false" u="none" strike="noStrike">
                <a:solidFill>
                  <a:srgbClr val="1F2329">
                    <a:alpha val="100000"/>
                  </a:srgbClr>
                </a:solidFill>
              </a:defRPr>
            </a:lvl1pPr>
          </a:lstStyle>
          <a:p>
            <a:pPr algn="l" marL="0" indent="0">
              <a:lnSpc>
                <a:spcPct val="83333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页脚</a:t>
            </a:r>
          </a:p>
        </p:txBody>
      </p:sp>
      <p:sp>
        <p:nvSpPr>
          <p:cNvPr name="AutoShape 6" id="6"/>
          <p:cNvSpPr/>
          <p:nvPr>
            <p:ph idx="7" type="body" sz="quarter"/>
          </p:nvPr>
        </p:nvSpPr>
        <p:spPr>
          <a:xfrm rot="0" flipH="false" flipV="false">
            <a:off x="114808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127000" rIns="127000" tIns="63500" bIns="63500">
            <a:spAutoFit/>
          </a:bodyPr>
          <a:lstStyle>
            <a:lvl1pPr algn="l">
              <a:lnSpc>
                <a:spcPct val="83333"/>
              </a:lnSpc>
              <a:defRPr sz="2400" b="false" i="false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algn="l"/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600640" y="8230832"/>
            <a:ext cx="1192041" cy="89753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2" type="body" sz="quarter"/>
          </p:nvPr>
        </p:nvSpPr>
        <p:spPr>
          <a:xfrm rot="0" flipH="false" flipV="false">
            <a:off x="12819528" y="8872783"/>
            <a:ext cx="3053976" cy="253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127000" rIns="127000" tIns="63500" bIns="63500">
            <a:spAutoFit/>
          </a:bodyPr>
          <a:lstStyle>
            <a:lvl1pPr algn="r">
              <a:lnSpc>
                <a:spcPct val="83333"/>
              </a:lnSpc>
              <a:defRPr sz="1300" b="false" i="false" u="none" strike="noStrike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algn="r"/>
            <a:endParaRPr/>
          </a:p>
        </p:txBody>
      </p:sp>
      <p:sp>
        <p:nvSpPr>
          <p:cNvPr name="AutoShape 3" id="3"/>
          <p:cNvSpPr/>
          <p:nvPr>
            <p:ph idx="13" type="body" sz="quarter" hasCustomPrompt="true"/>
          </p:nvPr>
        </p:nvSpPr>
        <p:spPr>
          <a:xfrm rot="0" flipH="false" flipV="false">
            <a:off x="2832847" y="358588"/>
            <a:ext cx="12550000" cy="7414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127000" rIns="127000" tIns="63500" bIns="63500">
            <a:spAutoFit/>
          </a:bodyPr>
          <a:lstStyle>
            <a:lvl1pPr algn="l">
              <a:lnSpc>
                <a:spcPct val="75000"/>
              </a:lnSpc>
              <a:defRPr sz="2600" b="tru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>
              <a:lnSpc>
                <a:spcPct val="75000"/>
              </a:lnSpc>
            </a:pP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" type="body" sz="quarter"/>
          </p:nvPr>
        </p:nvSpPr>
        <p:spPr>
          <a:xfrm rot="0" flipH="false" flipV="false">
            <a:off x="12819528" y="8872783"/>
            <a:ext cx="3053976" cy="253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127000" rIns="127000" tIns="63500" bIns="63500">
            <a:spAutoFit/>
          </a:bodyPr>
          <a:lstStyle>
            <a:lvl1pPr algn="r">
              <a:lnSpc>
                <a:spcPct val="83333"/>
              </a:lnSpc>
              <a:defRPr sz="1300" b="false" i="false" u="none" strike="noStrike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algn="r"/>
            <a:endParaRPr/>
          </a:p>
        </p:txBody>
      </p:sp>
      <p:sp>
        <p:nvSpPr>
          <p:cNvPr name="AutoShape 3" id="3"/>
          <p:cNvSpPr/>
          <p:nvPr>
            <p:ph idx="15" type="body" sz="quarter" hasCustomPrompt="true"/>
          </p:nvPr>
        </p:nvSpPr>
        <p:spPr>
          <a:xfrm rot="0" flipH="false" flipV="false">
            <a:off x="2832847" y="358588"/>
            <a:ext cx="12550000" cy="7414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127000" rIns="127000" tIns="63500" bIns="63500">
            <a:spAutoFit/>
          </a:bodyPr>
          <a:lstStyle>
            <a:lvl1pPr algn="l">
              <a:lnSpc>
                <a:spcPct val="75000"/>
              </a:lnSpc>
              <a:defRPr sz="2600" b="tru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>
              <a:lnSpc>
                <a:spcPct val="75000"/>
              </a:lnSpc>
            </a:pP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slideLayouts/slideLayout12.xml" Type="http://schemas.openxmlformats.org/officeDocument/2006/relationships/slideLayout"/></Relationships>
</file>

<file path=ppt/slideMasters/_rels/slideMaster3.xml.rels><?xml version="1.0" encoding="UTF-8" standalone="yes"?><Relationships xmlns="http://schemas.openxmlformats.org/package/2006/relationships"><Relationship Id="rId1" Target="../theme/theme4.xml" Type="http://schemas.openxmlformats.org/officeDocument/2006/relationships/theme"/><Relationship Id="rId2" Target="../media/image3.png" Type="http://schemas.openxmlformats.org/officeDocument/2006/relationships/image"/></Relationships>
</file>

<file path=ppt/slideMasters/_rels/slideMaster4.xml.rels><?xml version="1.0" encoding="UTF-8" standalone="yes"?><Relationships xmlns="http://schemas.openxmlformats.org/package/2006/relationships"><Relationship Id="rId1" Target="../theme/theme5.xml" Type="http://schemas.openxmlformats.org/officeDocument/2006/relationships/theme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3.png" Type="http://schemas.openxmlformats.org/officeDocument/2006/relationships/image"/><Relationship Id="rId5" Target="../slideLayouts/slideLayout13.xml" Type="http://schemas.openxmlformats.org/officeDocument/2006/relationships/slideLayout"/><Relationship Id="rId6" Target="../slideLayouts/slideLayout14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自定义设计方案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1" id="1"/>
          <p:cNvCxnSpPr/>
          <p:nvPr/>
        </p:nvCxnSpPr>
        <p:spPr>
          <a:xfrm rot="0" flipH="false" flipV="false">
            <a:off x="392411" y="8791389"/>
            <a:ext cx="7000199" cy="0"/>
          </a:xfrm>
          <a:prstGeom prst="straightConnector1">
            <a:avLst/>
          </a:prstGeom>
          <a:noFill/>
          <a:ln w="76200">
            <a:solidFill>
              <a:srgbClr val="FFFFFF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cxnSp>
        <p:nvCxnSpPr>
          <p:cNvPr name="Connector 2" id="2"/>
          <p:cNvCxnSpPr/>
          <p:nvPr/>
        </p:nvCxnSpPr>
        <p:spPr>
          <a:xfrm rot="0" flipH="false" flipV="false">
            <a:off x="8859077" y="8801065"/>
            <a:ext cx="7000199" cy="0"/>
          </a:xfrm>
          <a:prstGeom prst="straightConnector1">
            <a:avLst/>
          </a:prstGeom>
          <a:noFill/>
          <a:ln w="76200">
            <a:solidFill>
              <a:srgbClr val="FFFFFF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cxnSp>
        <p:nvCxnSpPr>
          <p:cNvPr name="Connector 3" id="3"/>
          <p:cNvCxnSpPr/>
          <p:nvPr/>
        </p:nvCxnSpPr>
        <p:spPr>
          <a:xfrm rot="0" flipH="false" flipV="false">
            <a:off x="421443" y="8783140"/>
            <a:ext cx="7000199" cy="0"/>
          </a:xfrm>
          <a:prstGeom prst="straightConnector1">
            <a:avLst/>
          </a:prstGeom>
          <a:noFill/>
          <a:ln w="76200">
            <a:solidFill>
              <a:srgbClr val="F2F2F2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cxnSp>
        <p:nvCxnSpPr>
          <p:cNvPr name="Connector 4" id="4"/>
          <p:cNvCxnSpPr/>
          <p:nvPr/>
        </p:nvCxnSpPr>
        <p:spPr>
          <a:xfrm rot="0" flipH="false" flipV="false">
            <a:off x="8888109" y="8792816"/>
            <a:ext cx="7000199" cy="0"/>
          </a:xfrm>
          <a:prstGeom prst="straightConnector1">
            <a:avLst/>
          </a:prstGeom>
          <a:noFill/>
          <a:ln w="76200">
            <a:solidFill>
              <a:srgbClr val="F2F2F2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85049" y="8230832"/>
            <a:ext cx="1908489" cy="122167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600640" y="8230832"/>
            <a:ext cx="1192041" cy="89753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1_Office 主题">
    <p:bg>
      <p:bgPr>
        <a:gradFill rotWithShape="true">
          <a:gsLst>
            <a:gs pos="0">
              <a:srgbClr val="FFFFFF">
                <a:alpha val="100000"/>
              </a:srgbClr>
            </a:gs>
            <a:gs pos="74000">
              <a:srgbClr val="FFFFFF">
                <a:alpha val="100000"/>
              </a:srgbClr>
            </a:gs>
            <a:gs pos="82999">
              <a:srgbClr val="FFFF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1" id="1"/>
          <p:cNvCxnSpPr/>
          <p:nvPr/>
        </p:nvCxnSpPr>
        <p:spPr>
          <a:xfrm rot="0" flipH="false" flipV="false">
            <a:off x="428269" y="8881036"/>
            <a:ext cx="7142400" cy="0"/>
          </a:xfrm>
          <a:prstGeom prst="straightConnector1">
            <a:avLst/>
          </a:prstGeom>
          <a:noFill/>
          <a:ln w="25400">
            <a:solidFill>
              <a:srgbClr val="E5E5E5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cxnSp>
        <p:nvCxnSpPr>
          <p:cNvPr name="Connector 2" id="2"/>
          <p:cNvCxnSpPr/>
          <p:nvPr/>
        </p:nvCxnSpPr>
        <p:spPr>
          <a:xfrm rot="0" flipH="false" flipV="false">
            <a:off x="8695764" y="8881036"/>
            <a:ext cx="7132800" cy="0"/>
          </a:xfrm>
          <a:prstGeom prst="straightConnector1">
            <a:avLst/>
          </a:prstGeom>
          <a:noFill/>
          <a:ln w="25400">
            <a:solidFill>
              <a:srgbClr val="E5E5E5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cxnSp>
        <p:nvCxnSpPr>
          <p:cNvPr name="Connector 3" id="3"/>
          <p:cNvCxnSpPr/>
          <p:nvPr/>
        </p:nvCxnSpPr>
        <p:spPr>
          <a:xfrm rot="0" flipH="false" flipV="false">
            <a:off x="428269" y="8881036"/>
            <a:ext cx="7142400" cy="0"/>
          </a:xfrm>
          <a:prstGeom prst="straightConnector1">
            <a:avLst/>
          </a:prstGeom>
          <a:noFill/>
          <a:ln w="25400">
            <a:solidFill>
              <a:srgbClr val="E5E5E5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cxnSp>
        <p:nvCxnSpPr>
          <p:cNvPr name="Connector 4" id="4"/>
          <p:cNvCxnSpPr/>
          <p:nvPr/>
        </p:nvCxnSpPr>
        <p:spPr>
          <a:xfrm rot="0" flipH="false" flipV="false">
            <a:off x="8695764" y="8881036"/>
            <a:ext cx="7132800" cy="0"/>
          </a:xfrm>
          <a:prstGeom prst="straightConnector1">
            <a:avLst/>
          </a:prstGeom>
          <a:noFill/>
          <a:ln w="25400">
            <a:solidFill>
              <a:srgbClr val="E5E5E5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788895" y="1483895"/>
            <a:ext cx="1775012" cy="6921753"/>
          </a:xfrm>
          <a:prstGeom prst="rect">
            <a:avLst/>
          </a:prstGeom>
          <a:solidFill>
            <a:srgbClr val="F2F2F2">
              <a:alpha val="30196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no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699247" y="1147485"/>
            <a:ext cx="14791765" cy="0"/>
          </a:xfrm>
          <a:prstGeom prst="straightConnector1">
            <a:avLst/>
          </a:prstGeom>
          <a:noFill/>
          <a:ln w="25400">
            <a:solidFill>
              <a:srgbClr val="FFC000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grpSp>
        <p:nvGrpSpPr>
          <p:cNvPr name="Group 8" id="8"/>
          <p:cNvGrpSpPr/>
          <p:nvPr/>
        </p:nvGrpSpPr>
        <p:grpSpPr>
          <a:xfrm>
            <a:off x="2614711" y="258096"/>
            <a:ext cx="118533" cy="8312163"/>
            <a:chOff x="2614711" y="258096"/>
            <a:chExt cx="118533" cy="8312163"/>
          </a:xfrm>
        </p:grpSpPr>
        <p:cxnSp>
          <p:nvCxnSpPr>
            <p:cNvPr name="Connector 9" id="9"/>
            <p:cNvCxnSpPr/>
            <p:nvPr/>
          </p:nvCxnSpPr>
          <p:spPr>
            <a:xfrm rot="0" flipH="false" flipV="true">
              <a:off x="2675473" y="1183347"/>
              <a:ext cx="0" cy="7386912"/>
            </a:xfrm>
            <a:prstGeom prst="straightConnector1">
              <a:avLst/>
            </a:prstGeom>
            <a:noFill/>
            <a:ln w="25400">
              <a:solidFill>
                <a:srgbClr val="FFC000">
                  <a:alpha val="100000"/>
                </a:srgbClr>
              </a:solidFill>
              <a:prstDash val="solid"/>
              <a:headEnd type="none" w="lg" len="lg"/>
              <a:tailEnd type="none" w="lg" len="lg"/>
            </a:ln>
          </p:spPr>
        </p:cxnSp>
        <p:sp>
          <p:nvSpPr>
            <p:cNvPr name="AutoShape 10" id="10"/>
            <p:cNvSpPr/>
            <p:nvPr/>
          </p:nvSpPr>
          <p:spPr>
            <a:xfrm rot="0" flipH="false" flipV="false">
              <a:off x="2614711" y="258096"/>
              <a:ext cx="118533" cy="864000"/>
            </a:xfrm>
            <a:prstGeom prst="rect">
              <a:avLst/>
            </a:prstGeom>
            <a:solidFill>
              <a:srgbClr val="FFC000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false" i="false" strike="noStrike" u="none" sz="24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2614711" y="1173875"/>
              <a:ext cx="118533" cy="240000"/>
            </a:xfrm>
            <a:prstGeom prst="rect">
              <a:avLst/>
            </a:prstGeom>
            <a:solidFill>
              <a:srgbClr val="B2B2B2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false" i="false" strike="noStrike" u="none" sz="24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</a:t>
              </a:r>
              <a:endParaRPr lang="en-US" sz="1100"/>
            </a:p>
          </p:txBody>
        </p:sp>
      </p:grpSp>
      <p:sp>
        <p:nvSpPr>
          <p:cNvPr name="AutoShape 12" id="12"/>
          <p:cNvSpPr/>
          <p:nvPr/>
        </p:nvSpPr>
        <p:spPr>
          <a:xfrm rot="0" flipH="false" flipV="false">
            <a:off x="2832847" y="1506071"/>
            <a:ext cx="12550000" cy="7010399"/>
          </a:xfrm>
          <a:prstGeom prst="rect">
            <a:avLst/>
          </a:prstGeom>
          <a:noFill/>
          <a:ln w="12700">
            <a:solidFill>
              <a:srgbClr val="E5E5E5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no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25353" y="324224"/>
            <a:ext cx="1779004" cy="7414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127000" rIns="127000" tIns="63500" bIns="63500">
            <a:spAutoFit/>
          </a:bodyPr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2600">
                <a:solidFill>
                  <a:srgbClr val="E5E5E5"/>
                </a:solidFill>
                <a:latin typeface="微软雅黑"/>
                <a:ea typeface="微软雅黑"/>
                <a:cs typeface="微软雅黑"/>
                <a:sym typeface="微软雅黑"/>
              </a:rPr>
              <a:t>客户logo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760009" y="8567395"/>
            <a:ext cx="757297" cy="5702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Office 主题">
    <p:bg>
      <p:bgPr>
        <a:gradFill rotWithShape="true">
          <a:gsLst>
            <a:gs pos="0">
              <a:srgbClr val="FFFFFF">
                <a:alpha val="100000"/>
              </a:srgbClr>
            </a:gs>
            <a:gs pos="74000">
              <a:srgbClr val="FFFFFF">
                <a:alpha val="100000"/>
              </a:srgbClr>
            </a:gs>
            <a:gs pos="82999">
              <a:srgbClr val="FFFF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1" id="1"/>
          <p:cNvCxnSpPr/>
          <p:nvPr/>
        </p:nvCxnSpPr>
        <p:spPr>
          <a:xfrm rot="0" flipH="false" flipV="false">
            <a:off x="428269" y="8881036"/>
            <a:ext cx="7142400" cy="0"/>
          </a:xfrm>
          <a:prstGeom prst="straightConnector1">
            <a:avLst/>
          </a:prstGeom>
          <a:noFill/>
          <a:ln w="25400">
            <a:solidFill>
              <a:srgbClr val="E5E5E5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cxnSp>
        <p:nvCxnSpPr>
          <p:cNvPr name="Connector 2" id="2"/>
          <p:cNvCxnSpPr/>
          <p:nvPr/>
        </p:nvCxnSpPr>
        <p:spPr>
          <a:xfrm rot="0" flipH="false" flipV="false">
            <a:off x="8695764" y="8881036"/>
            <a:ext cx="7132800" cy="0"/>
          </a:xfrm>
          <a:prstGeom prst="straightConnector1">
            <a:avLst/>
          </a:prstGeom>
          <a:noFill/>
          <a:ln w="25400">
            <a:solidFill>
              <a:srgbClr val="E5E5E5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sp>
        <p:nvSpPr>
          <p:cNvPr name="AutoShape 3" id="3"/>
          <p:cNvSpPr/>
          <p:nvPr/>
        </p:nvSpPr>
        <p:spPr>
          <a:xfrm rot="0" flipH="false" flipV="false">
            <a:off x="788895" y="1483895"/>
            <a:ext cx="1775012" cy="6921753"/>
          </a:xfrm>
          <a:prstGeom prst="rect">
            <a:avLst/>
          </a:prstGeom>
          <a:solidFill>
            <a:srgbClr val="F2F2F2">
              <a:alpha val="30196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no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0" flipH="false" flipV="false">
            <a:off x="699247" y="1147485"/>
            <a:ext cx="14791765" cy="0"/>
          </a:xfrm>
          <a:prstGeom prst="straightConnector1">
            <a:avLst/>
          </a:prstGeom>
          <a:noFill/>
          <a:ln w="25400">
            <a:solidFill>
              <a:srgbClr val="FFC000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2832847" y="1506071"/>
            <a:ext cx="12550000" cy="7010399"/>
          </a:xfrm>
          <a:prstGeom prst="rect">
            <a:avLst/>
          </a:prstGeom>
          <a:noFill/>
          <a:ln w="12700">
            <a:solidFill>
              <a:srgbClr val="E5E5E5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no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25353" y="324224"/>
            <a:ext cx="1779004" cy="7414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127000" rIns="127000" tIns="63500" bIns="63500">
            <a:spAutoFit/>
          </a:bodyPr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2600">
                <a:solidFill>
                  <a:srgbClr val="E5E5E5"/>
                </a:solidFill>
                <a:latin typeface="微软雅黑"/>
                <a:ea typeface="微软雅黑"/>
                <a:cs typeface="微软雅黑"/>
                <a:sym typeface="微软雅黑"/>
              </a:rPr>
              <a:t>客户logo</a:t>
            </a:r>
            <a:endParaRPr lang="en-US" sz="1100"/>
          </a:p>
        </p:txBody>
      </p:sp>
      <p:grpSp>
        <p:nvGrpSpPr>
          <p:cNvPr name="Group 8" id="8"/>
          <p:cNvGrpSpPr/>
          <p:nvPr/>
        </p:nvGrpSpPr>
        <p:grpSpPr>
          <a:xfrm>
            <a:off x="2614711" y="258096"/>
            <a:ext cx="118533" cy="8312163"/>
            <a:chOff x="2614711" y="258096"/>
            <a:chExt cx="118533" cy="8312163"/>
          </a:xfrm>
        </p:grpSpPr>
        <p:cxnSp>
          <p:nvCxnSpPr>
            <p:cNvPr name="Connector 9" id="9"/>
            <p:cNvCxnSpPr/>
            <p:nvPr/>
          </p:nvCxnSpPr>
          <p:spPr>
            <a:xfrm rot="0" flipH="false" flipV="true">
              <a:off x="2675473" y="1183347"/>
              <a:ext cx="0" cy="7386912"/>
            </a:xfrm>
            <a:prstGeom prst="straightConnector1">
              <a:avLst/>
            </a:prstGeom>
            <a:noFill/>
            <a:ln w="25400">
              <a:solidFill>
                <a:srgbClr val="FFC000">
                  <a:alpha val="100000"/>
                </a:srgbClr>
              </a:solidFill>
              <a:prstDash val="solid"/>
              <a:headEnd type="none" w="lg" len="lg"/>
              <a:tailEnd type="none" w="lg" len="lg"/>
            </a:ln>
          </p:spPr>
        </p:cxnSp>
        <p:sp>
          <p:nvSpPr>
            <p:cNvPr name="AutoShape 10" id="10"/>
            <p:cNvSpPr/>
            <p:nvPr/>
          </p:nvSpPr>
          <p:spPr>
            <a:xfrm rot="0" flipH="false" flipV="false">
              <a:off x="2614711" y="258096"/>
              <a:ext cx="118533" cy="864000"/>
            </a:xfrm>
            <a:prstGeom prst="rect">
              <a:avLst/>
            </a:prstGeom>
            <a:solidFill>
              <a:srgbClr val="FFC000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false" i="false" strike="noStrike" u="none" sz="24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</a:t>
              </a:r>
              <a:endParaRPr lang="en-US" sz="1100"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2614711" y="1173875"/>
              <a:ext cx="118533" cy="240000"/>
            </a:xfrm>
            <a:prstGeom prst="rect">
              <a:avLst/>
            </a:prstGeom>
            <a:solidFill>
              <a:srgbClr val="B2B2B2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false" i="false" strike="noStrike" u="none" sz="24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</a:t>
              </a:r>
              <a:endParaRPr lang="en-US" sz="1100"/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7185049" y="8230832"/>
            <a:ext cx="1908489" cy="122167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7597703" y="8570259"/>
            <a:ext cx="1066800" cy="555812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7760009" y="8567395"/>
            <a:ext cx="757297" cy="5702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700" r:id="rId5"/>
    <p:sldLayoutId id="2157483701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14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ctr">
              <a:lnSpc>
                <a:spcPct val="75000"/>
              </a:lnSpc>
              <a:defRPr sz="7200" b="false" i="false" u="none" strike="noStrike">
                <a:solidFill>
                  <a:srgbClr val="FFC000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marL="0" indent="0">
              <a:lnSpc>
                <a:spcPct val="75000"/>
              </a:lnSpc>
            </a:pPr>
            <a:r>
              <a:rPr lang="en-US" b="false" i="false" strike="noStrike" u="none" sz="72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以太创服 官方BP模板</a:t>
            </a:r>
          </a:p>
        </p:txBody>
      </p:sp>
      <p:sp>
        <p:nvSpPr>
          <p:cNvPr name="AutoShape 3" id="3"/>
          <p:cNvSpPr/>
          <p:nvPr>
            <p:ph idx="4" type="body" sz="quarter" hasCustomPrompt="true"/>
          </p:nvPr>
        </p:nvSpPr>
        <p:spPr>
          <a:xfrm rot="0" flipH="false" flipV="false">
            <a:off x="2032000" y="4967784"/>
            <a:ext cx="12192000" cy="2042615"/>
          </a:xfrm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ctr">
              <a:lnSpc>
                <a:spcPct val="104166"/>
              </a:lnSpc>
              <a:defRPr sz="3200" b="false" i="false" u="none" strike="noStrike">
                <a:solidFill>
                  <a:srgbClr val="808080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marL="0" indent="0">
              <a:lnSpc>
                <a:spcPct val="104166"/>
              </a:lnSpc>
            </a:pPr>
            <a:r>
              <a:rPr lang="en-US" b="false" i="false" strike="noStrike" u="none" sz="32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适用于种子—A轮的互联网领域项目</a:t>
            </a:r>
          </a:p>
          <a:p>
            <a:pPr algn="ctr" marL="0" indent="0">
              <a:lnSpc>
                <a:spcPct val="104166"/>
              </a:lnSpc>
            </a:pPr>
            <a:r>
              <a:rPr lang="en-US" b="false" i="false" strike="noStrike" u="none" sz="3200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2020年6月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r">
              <a:lnSpc>
                <a:spcPct val="83333"/>
              </a:lnSpc>
              <a:defRPr sz="1300" b="false" i="false" u="none" strike="noStrike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algn="r"/>
            <a:endParaRPr/>
          </a:p>
        </p:txBody>
      </p:sp>
      <p:sp>
        <p:nvSpPr>
          <p:cNvPr name="AutoShape 3" id="3"/>
          <p:cNvSpPr/>
          <p:nvPr>
            <p:ph idx="1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l">
              <a:lnSpc>
                <a:spcPct val="75000"/>
              </a:lnSpc>
              <a:defRPr sz="2600" b="tru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>
              <a:lnSpc>
                <a:spcPct val="75000"/>
              </a:lnSpc>
            </a:pP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投资人主要关心七大问题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65516" y="2707696"/>
            <a:ext cx="1645671" cy="400700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127000" rIns="127000" tIns="63500" bIns="63500">
            <a:spAutoFit/>
          </a:bodyPr>
          <a:lstStyle/>
          <a:p>
            <a:pPr algn="ctr" marL="0" indent="0">
              <a:lnSpc>
                <a:spcPct val="104166"/>
              </a:lnSpc>
              <a:defRPr/>
            </a:pP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BP</a:t>
            </a:r>
            <a:endParaRPr lang="en-US" sz="1100"/>
          </a:p>
          <a:p>
            <a:pPr algn="ctr" marL="0" indent="0">
              <a:lnSpc>
                <a:spcPct val="104166"/>
              </a:lnSpc>
            </a:pP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内容</a:t>
            </a:r>
          </a:p>
          <a:p>
            <a:pPr algn="ctr" marL="0" indent="0">
              <a:lnSpc>
                <a:spcPct val="104166"/>
              </a:lnSpc>
            </a:pP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说明</a:t>
            </a:r>
          </a:p>
        </p:txBody>
      </p:sp>
      <p:cxnSp>
        <p:nvCxnSpPr>
          <p:cNvPr name="Connector 5" id="5"/>
          <p:cNvCxnSpPr/>
          <p:nvPr/>
        </p:nvCxnSpPr>
        <p:spPr>
          <a:xfrm rot="0" flipH="false" flipV="false">
            <a:off x="3402843" y="4965535"/>
            <a:ext cx="11445921" cy="0"/>
          </a:xfrm>
          <a:prstGeom prst="straightConnector1">
            <a:avLst/>
          </a:prstGeom>
          <a:noFill/>
          <a:ln w="25400">
            <a:solidFill>
              <a:srgbClr val="002060">
                <a:alpha val="100000"/>
              </a:srgbClr>
            </a:solidFill>
            <a:prstDash val="solid"/>
            <a:headEnd type="none" w="lg" len="lg"/>
            <a:tailEnd type="triangle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3948752" y="4819959"/>
            <a:ext cx="291152" cy="291152"/>
          </a:xfrm>
          <a:prstGeom prst="ellipse">
            <a:avLst/>
          </a:prstGeom>
          <a:solidFill>
            <a:srgbClr val="FFC000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no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83949" y="4819959"/>
            <a:ext cx="291152" cy="291152"/>
          </a:xfrm>
          <a:prstGeom prst="ellipse">
            <a:avLst/>
          </a:prstGeom>
          <a:solidFill>
            <a:srgbClr val="FFC000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no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219147" y="4819959"/>
            <a:ext cx="291152" cy="291152"/>
          </a:xfrm>
          <a:prstGeom prst="ellipse">
            <a:avLst/>
          </a:prstGeom>
          <a:solidFill>
            <a:srgbClr val="FFC000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no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3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54344" y="4819959"/>
            <a:ext cx="291152" cy="291152"/>
          </a:xfrm>
          <a:prstGeom prst="ellipse">
            <a:avLst/>
          </a:prstGeom>
          <a:solidFill>
            <a:srgbClr val="FFC000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no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4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89541" y="4819959"/>
            <a:ext cx="291152" cy="291152"/>
          </a:xfrm>
          <a:prstGeom prst="ellipse">
            <a:avLst/>
          </a:prstGeom>
          <a:solidFill>
            <a:srgbClr val="FFC000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no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5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124739" y="4819959"/>
            <a:ext cx="291152" cy="291152"/>
          </a:xfrm>
          <a:prstGeom prst="ellipse">
            <a:avLst/>
          </a:prstGeom>
          <a:solidFill>
            <a:srgbClr val="FFC000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no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6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3759933" y="4819959"/>
            <a:ext cx="291152" cy="291152"/>
          </a:xfrm>
          <a:prstGeom prst="ellipse">
            <a:avLst/>
          </a:prstGeom>
          <a:solidFill>
            <a:srgbClr val="FFC000">
              <a:alpha val="100000"/>
            </a:srgbClr>
          </a:solidFill>
          <a:ln w="12700">
            <a:solidFill>
              <a:srgbClr val="FFFFFF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no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7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0" flipH="false" flipV="false">
            <a:off x="4094327" y="3784975"/>
            <a:ext cx="0" cy="998589"/>
          </a:xfrm>
          <a:prstGeom prst="straightConnector1">
            <a:avLst/>
          </a:prstGeom>
          <a:noFill/>
          <a:ln w="12700">
            <a:solidFill>
              <a:srgbClr val="002060">
                <a:alpha val="100000"/>
              </a:srgbClr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3155308" y="2041620"/>
            <a:ext cx="3002508" cy="13935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indent="-228600" marL="228600">
              <a:lnSpc>
                <a:spcPct val="104166"/>
              </a:lnSpc>
              <a:buClr>
                <a:srgbClr val="002060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Who：你们是谁？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项目概况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团队概况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89092" y="6345727"/>
            <a:ext cx="3330055" cy="13935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indent="-228600" marL="228600">
              <a:lnSpc>
                <a:spcPct val="104166"/>
              </a:lnSpc>
              <a:buClr>
                <a:srgbClr val="002060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Where：目标市场有多大？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市场规模/细分市场规模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行业竞争度</a:t>
            </a:r>
          </a:p>
        </p:txBody>
      </p:sp>
      <p:cxnSp>
        <p:nvCxnSpPr>
          <p:cNvPr name="Connector 16" id="16"/>
          <p:cNvCxnSpPr/>
          <p:nvPr/>
        </p:nvCxnSpPr>
        <p:spPr>
          <a:xfrm rot="0" flipH="false" flipV="false">
            <a:off x="5735091" y="5134587"/>
            <a:ext cx="0" cy="998589"/>
          </a:xfrm>
          <a:prstGeom prst="straightConnector1">
            <a:avLst/>
          </a:prstGeom>
          <a:noFill/>
          <a:ln w="12700">
            <a:solidFill>
              <a:srgbClr val="002060">
                <a:alpha val="100000"/>
              </a:srgbClr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name="Connector 17" id="17"/>
          <p:cNvCxnSpPr/>
          <p:nvPr/>
        </p:nvCxnSpPr>
        <p:spPr>
          <a:xfrm rot="0" flipH="false" flipV="false">
            <a:off x="7354625" y="3806205"/>
            <a:ext cx="0" cy="998589"/>
          </a:xfrm>
          <a:prstGeom prst="straightConnector1">
            <a:avLst/>
          </a:prstGeom>
          <a:noFill/>
          <a:ln w="12700">
            <a:solidFill>
              <a:srgbClr val="002060">
                <a:alpha val="100000"/>
              </a:srgbClr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name="Connector 18" id="18"/>
          <p:cNvCxnSpPr/>
          <p:nvPr/>
        </p:nvCxnSpPr>
        <p:spPr>
          <a:xfrm rot="0" flipH="false" flipV="false">
            <a:off x="8995389" y="5155817"/>
            <a:ext cx="0" cy="998589"/>
          </a:xfrm>
          <a:prstGeom prst="straightConnector1">
            <a:avLst/>
          </a:prstGeom>
          <a:noFill/>
          <a:ln w="12700">
            <a:solidFill>
              <a:srgbClr val="002060">
                <a:alpha val="100000"/>
              </a:srgbClr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5935409" y="2041620"/>
            <a:ext cx="3160793" cy="166199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indent="-228600" marL="228600">
              <a:lnSpc>
                <a:spcPct val="104166"/>
              </a:lnSpc>
              <a:buClr>
                <a:srgbClr val="002060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Why：所处行业痛点或用户需求？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行业痛点分析或用户需求场景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70037" y="6345727"/>
            <a:ext cx="3002508" cy="1764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indent="-228600" marL="228600">
              <a:lnSpc>
                <a:spcPct val="104166"/>
              </a:lnSpc>
              <a:buClr>
                <a:srgbClr val="002060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How：如何解决行业痛点或用户需求？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业务模式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现状策略</a:t>
            </a:r>
          </a:p>
        </p:txBody>
      </p:sp>
      <p:cxnSp>
        <p:nvCxnSpPr>
          <p:cNvPr name="Connector 21" id="21"/>
          <p:cNvCxnSpPr/>
          <p:nvPr/>
        </p:nvCxnSpPr>
        <p:spPr>
          <a:xfrm rot="0" flipH="false" flipV="false">
            <a:off x="10651317" y="3882025"/>
            <a:ext cx="0" cy="998589"/>
          </a:xfrm>
          <a:prstGeom prst="straightConnector1">
            <a:avLst/>
          </a:prstGeom>
          <a:noFill/>
          <a:ln w="12700">
            <a:solidFill>
              <a:srgbClr val="002060">
                <a:alpha val="100000"/>
              </a:srgbClr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name="Connector 22" id="22"/>
          <p:cNvCxnSpPr/>
          <p:nvPr/>
        </p:nvCxnSpPr>
        <p:spPr>
          <a:xfrm rot="0" flipH="false" flipV="false">
            <a:off x="12292081" y="5177047"/>
            <a:ext cx="0" cy="998589"/>
          </a:xfrm>
          <a:prstGeom prst="straightConnector1">
            <a:avLst/>
          </a:prstGeom>
          <a:noFill/>
          <a:ln w="12700">
            <a:solidFill>
              <a:srgbClr val="002060">
                <a:alpha val="100000"/>
              </a:srgbClr>
            </a:solidFill>
            <a:prstDash val="dash"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9280473" y="2041620"/>
            <a:ext cx="3202676" cy="1764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indent="-228600" marL="228600">
              <a:lnSpc>
                <a:spcPct val="104166"/>
              </a:lnSpc>
              <a:buClr>
                <a:srgbClr val="002060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Which：竞争对手如何？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对手有谁？与我们有什么不同？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如何实现弯道超车？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1042555" y="6345727"/>
            <a:ext cx="3202676" cy="176458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indent="-228600" marL="228600">
              <a:lnSpc>
                <a:spcPct val="104166"/>
              </a:lnSpc>
              <a:buClr>
                <a:srgbClr val="002060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What：运营现状及未来策略？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现状运营关键数据？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未来发展策略？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2709341" y="2041620"/>
            <a:ext cx="2546125" cy="14055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indent="-228600" marL="228600">
              <a:lnSpc>
                <a:spcPct val="104166"/>
              </a:lnSpc>
              <a:buClr>
                <a:srgbClr val="002060"/>
              </a:buClr>
              <a:buChar char="•"/>
              <a:defRPr/>
            </a:pPr>
            <a:r>
              <a:rPr lang="en-US" b="false" i="false" strike="noStrike" u="none" sz="1800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What：融资计划？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融资金额？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融资用途？</a:t>
            </a:r>
          </a:p>
        </p:txBody>
      </p:sp>
      <p:cxnSp>
        <p:nvCxnSpPr>
          <p:cNvPr name="Connector 26" id="26"/>
          <p:cNvCxnSpPr/>
          <p:nvPr/>
        </p:nvCxnSpPr>
        <p:spPr>
          <a:xfrm rot="0" flipH="false" flipV="false">
            <a:off x="13893420" y="3866861"/>
            <a:ext cx="0" cy="998589"/>
          </a:xfrm>
          <a:prstGeom prst="straightConnector1">
            <a:avLst/>
          </a:prstGeom>
          <a:noFill/>
          <a:ln w="12700">
            <a:solidFill>
              <a:srgbClr val="002060">
                <a:alpha val="100000"/>
              </a:srgbClr>
            </a:solidFill>
            <a:prstDash val="dash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r">
              <a:lnSpc>
                <a:spcPct val="83333"/>
              </a:lnSpc>
              <a:defRPr sz="1300" b="false" i="false" u="none" strike="noStrike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algn="r"/>
            <a:endParaRPr/>
          </a:p>
        </p:txBody>
      </p:sp>
      <p:sp>
        <p:nvSpPr>
          <p:cNvPr name="AutoShape 3" id="3"/>
          <p:cNvSpPr/>
          <p:nvPr>
            <p:ph idx="15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l">
              <a:lnSpc>
                <a:spcPct val="75000"/>
              </a:lnSpc>
              <a:defRPr sz="2600" b="tru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65516" y="2707696"/>
            <a:ext cx="1645671" cy="400700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127000" rIns="127000" tIns="63500" bIns="63500">
            <a:spAutoFit/>
          </a:bodyPr>
          <a:lstStyle/>
          <a:p>
            <a:pPr algn="ctr" marL="0" indent="0">
              <a:lnSpc>
                <a:spcPct val="104166"/>
              </a:lnSpc>
              <a:defRPr/>
            </a:pP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BP</a:t>
            </a:r>
            <a:endParaRPr lang="en-US" sz="1100"/>
          </a:p>
          <a:p>
            <a:pPr algn="ctr" marL="0" indent="0">
              <a:lnSpc>
                <a:spcPct val="104166"/>
              </a:lnSpc>
            </a:pP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正文</a:t>
            </a:r>
          </a:p>
          <a:p>
            <a:pPr algn="ctr" marL="0" indent="0">
              <a:lnSpc>
                <a:spcPct val="104166"/>
              </a:lnSpc>
            </a:pP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说明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832847" y="1528549"/>
            <a:ext cx="12550000" cy="702404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127000" rIns="127000" tIns="63500" bIns="63500">
            <a:noAutofit/>
          </a:bodyPr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24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sz="24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为便于你更好的制作BP，我们将按照BP的标准目录，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详细介绍每张PPT所需要展开的内容！</a:t>
            </a:r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sz="24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sz="24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r">
              <a:lnSpc>
                <a:spcPct val="83333"/>
              </a:lnSpc>
              <a:defRPr sz="1300" b="false" i="false" u="none" strike="noStrike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algn="r"/>
            <a:endParaRPr/>
          </a:p>
        </p:txBody>
      </p:sp>
      <p:sp>
        <p:nvSpPr>
          <p:cNvPr name="AutoShape 3" id="3"/>
          <p:cNvSpPr/>
          <p:nvPr>
            <p:ph idx="15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l">
              <a:lnSpc>
                <a:spcPct val="75000"/>
              </a:lnSpc>
              <a:defRPr sz="2600" b="tru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70830" y="1647672"/>
            <a:ext cx="1681391" cy="6640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true" i="false" strike="noStrike" u="none" sz="24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投资亮点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团队介绍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市场概况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痛点分析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商业模式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竞争格局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运营现状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未来规划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融资计划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1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832847" y="1510352"/>
            <a:ext cx="12550000" cy="69148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noAutofit/>
          </a:bodyPr>
          <a:lstStyle/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目的：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总结BP的核心内容，运用概况性的语言来体现项目的核心优势，以快速吸引投资人；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内容：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项目亮点可以是：</a:t>
            </a:r>
            <a:r>
              <a:rPr lang="en-US" b="true" i="false" strike="noStrike" u="none" sz="1800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市场地位、团队实力、供应链优势 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等一切体现企业优势的领域；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建议：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投资亮点不用多，建议4-5点，原则上不超过6点。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>
            <a:off x="4288931" y="3622695"/>
            <a:ext cx="10004368" cy="4654907"/>
            <a:chOff x="4288931" y="3622695"/>
            <a:chExt cx="10004368" cy="4654907"/>
          </a:xfrm>
        </p:grpSpPr>
        <p:grpSp>
          <p:nvGrpSpPr>
            <p:cNvPr name="Group 7" id="7"/>
            <p:cNvGrpSpPr/>
            <p:nvPr/>
          </p:nvGrpSpPr>
          <p:grpSpPr>
            <a:xfrm>
              <a:off x="5579897" y="3829112"/>
              <a:ext cx="1198117" cy="4203251"/>
              <a:chOff x="5579897" y="3829112"/>
              <a:chExt cx="1198117" cy="4203251"/>
            </a:xfrm>
          </p:grpSpPr>
          <p:sp>
            <p:nvSpPr>
              <p:cNvPr name="Freeform 8" id="8"/>
              <p:cNvSpPr/>
              <p:nvPr/>
            </p:nvSpPr>
            <p:spPr>
              <a:xfrm rot="0" flipH="false" flipV="false">
                <a:off x="5661321" y="3829112"/>
                <a:ext cx="1063857" cy="2057211"/>
              </a:xfrm>
              <a:custGeom>
                <a:avLst/>
                <a:gdLst/>
                <a:ahLst/>
                <a:cxnLst/>
                <a:rect r="r" b="b" t="t" l="l"/>
                <a:pathLst>
                  <a:path h="2057211" w="1063857">
                    <a:moveTo>
                      <a:pt x="1063858" y="0"/>
                    </a:moveTo>
                    <a:cubicBezTo>
                      <a:pt x="1062717" y="186177"/>
                      <a:pt x="1061577" y="372162"/>
                      <a:pt x="1060436" y="558339"/>
                    </a:cubicBezTo>
                    <a:lnTo>
                      <a:pt x="0" y="2057211"/>
                    </a:lnTo>
                    <a:lnTo>
                      <a:pt x="1063858" y="0"/>
                    </a:lnTo>
                    <a:close/>
                  </a:path>
                </a:pathLst>
              </a:custGeom>
              <a:solidFill>
                <a:srgbClr val="FFC000">
                  <a:alpha val="80000"/>
                </a:srgbClr>
              </a:solidFill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l" marL="0" indent="0">
                  <a:lnSpc>
                    <a:spcPct val="83333"/>
                  </a:lnSpc>
                  <a:defRPr/>
                </a:pPr>
                <a:r>
                  <a:rPr lang="en-US" b="false" i="false" strike="noStrike" u="none" sz="2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  <a:endParaRPr lang="en-US" sz="1100"/>
              </a:p>
            </p:txBody>
          </p:sp>
          <p:sp>
            <p:nvSpPr>
              <p:cNvPr name="Freeform 9" id="9"/>
              <p:cNvSpPr/>
              <p:nvPr/>
            </p:nvSpPr>
            <p:spPr>
              <a:xfrm rot="0" flipH="false" flipV="false">
                <a:off x="5717493" y="4757187"/>
                <a:ext cx="1008811" cy="1129138"/>
              </a:xfrm>
              <a:custGeom>
                <a:avLst/>
                <a:gdLst/>
                <a:ahLst/>
                <a:cxnLst/>
                <a:rect r="r" b="b" t="t" l="l"/>
                <a:pathLst>
                  <a:path h="1129138" w="1008811">
                    <a:moveTo>
                      <a:pt x="1003180" y="0"/>
                    </a:moveTo>
                    <a:cubicBezTo>
                      <a:pt x="1005092" y="152428"/>
                      <a:pt x="1006898" y="304984"/>
                      <a:pt x="1008811" y="457539"/>
                    </a:cubicBezTo>
                    <a:lnTo>
                      <a:pt x="0" y="1129138"/>
                    </a:lnTo>
                    <a:lnTo>
                      <a:pt x="1003180" y="0"/>
                    </a:lnTo>
                    <a:close/>
                  </a:path>
                </a:pathLst>
              </a:custGeom>
              <a:solidFill>
                <a:srgbClr val="FFC000">
                  <a:alpha val="80000"/>
                </a:srgbClr>
              </a:solidFill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l" marL="0" indent="0">
                  <a:lnSpc>
                    <a:spcPct val="83333"/>
                  </a:lnSpc>
                  <a:defRPr/>
                </a:pPr>
                <a:r>
                  <a:rPr lang="en-US" b="false" i="false" strike="noStrike" u="none" sz="2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  <a:endParaRPr lang="en-US" sz="1100"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313683" flipH="false" flipV="false">
                <a:off x="5625476" y="5704820"/>
                <a:ext cx="1098681" cy="363007"/>
              </a:xfrm>
              <a:custGeom>
                <a:avLst/>
                <a:gdLst/>
                <a:ahLst/>
                <a:cxnLst/>
                <a:rect r="r" b="b" t="t" l="l"/>
                <a:pathLst>
                  <a:path h="363007" w="1098681">
                    <a:moveTo>
                      <a:pt x="1093084" y="0"/>
                    </a:moveTo>
                    <a:cubicBezTo>
                      <a:pt x="1094906" y="120990"/>
                      <a:pt x="1096858" y="242016"/>
                      <a:pt x="1098681" y="363007"/>
                    </a:cubicBezTo>
                    <a:lnTo>
                      <a:pt x="0" y="313929"/>
                    </a:lnTo>
                    <a:lnTo>
                      <a:pt x="1093084" y="0"/>
                    </a:lnTo>
                    <a:close/>
                  </a:path>
                </a:pathLst>
              </a:custGeom>
              <a:solidFill>
                <a:srgbClr val="FFC000">
                  <a:alpha val="80000"/>
                </a:srgbClr>
              </a:solidFill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l" marL="0" indent="0">
                  <a:lnSpc>
                    <a:spcPct val="83333"/>
                  </a:lnSpc>
                  <a:defRPr/>
                </a:pPr>
                <a:r>
                  <a:rPr lang="en-US" b="false" i="false" strike="noStrike" u="none" sz="2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  <a:endParaRPr lang="en-US" sz="1100"/>
              </a:p>
            </p:txBody>
          </p:sp>
          <p:sp>
            <p:nvSpPr>
              <p:cNvPr name="Freeform 11" id="11"/>
              <p:cNvSpPr/>
              <p:nvPr/>
            </p:nvSpPr>
            <p:spPr>
              <a:xfrm rot="199611" flipH="false" flipV="false">
                <a:off x="5609645" y="6075912"/>
                <a:ext cx="1134632" cy="1058173"/>
              </a:xfrm>
              <a:custGeom>
                <a:avLst/>
                <a:gdLst/>
                <a:ahLst/>
                <a:cxnLst/>
                <a:rect r="r" b="b" t="t" l="l"/>
                <a:pathLst>
                  <a:path h="1058173" w="1134632">
                    <a:moveTo>
                      <a:pt x="1134632" y="696110"/>
                    </a:moveTo>
                    <a:cubicBezTo>
                      <a:pt x="1132732" y="816759"/>
                      <a:pt x="1130959" y="937525"/>
                      <a:pt x="1129060" y="1058173"/>
                    </a:cubicBezTo>
                    <a:lnTo>
                      <a:pt x="0" y="0"/>
                    </a:lnTo>
                    <a:lnTo>
                      <a:pt x="1134632" y="696110"/>
                    </a:lnTo>
                    <a:close/>
                  </a:path>
                </a:pathLst>
              </a:custGeom>
              <a:solidFill>
                <a:srgbClr val="FFC000">
                  <a:alpha val="80000"/>
                </a:srgbClr>
              </a:solidFill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l" marL="0" indent="0">
                  <a:lnSpc>
                    <a:spcPct val="83333"/>
                  </a:lnSpc>
                  <a:defRPr/>
                </a:pPr>
                <a:r>
                  <a:rPr lang="en-US" b="false" i="false" strike="noStrike" u="none" sz="2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  <a:endParaRPr lang="en-US" sz="1100"/>
              </a:p>
            </p:txBody>
          </p:sp>
          <p:sp>
            <p:nvSpPr>
              <p:cNvPr name="Freeform 12" id="12"/>
              <p:cNvSpPr/>
              <p:nvPr/>
            </p:nvSpPr>
            <p:spPr>
              <a:xfrm rot="0" flipH="false" flipV="false">
                <a:off x="5593952" y="6091605"/>
                <a:ext cx="1184062" cy="1940758"/>
              </a:xfrm>
              <a:custGeom>
                <a:avLst/>
                <a:gdLst/>
                <a:ahLst/>
                <a:cxnLst/>
                <a:rect r="r" b="b" t="t" l="l"/>
                <a:pathLst>
                  <a:path h="1940758" w="1184062">
                    <a:moveTo>
                      <a:pt x="1184062" y="1487908"/>
                    </a:moveTo>
                    <a:cubicBezTo>
                      <a:pt x="1182167" y="1638324"/>
                      <a:pt x="1132200" y="1790343"/>
                      <a:pt x="1130305" y="1940758"/>
                    </a:cubicBezTo>
                    <a:lnTo>
                      <a:pt x="0" y="0"/>
                    </a:lnTo>
                    <a:lnTo>
                      <a:pt x="1184062" y="1487908"/>
                    </a:lnTo>
                    <a:close/>
                  </a:path>
                </a:pathLst>
              </a:custGeom>
              <a:solidFill>
                <a:srgbClr val="FFC000">
                  <a:alpha val="80000"/>
                </a:srgbClr>
              </a:solidFill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l" marL="0" indent="0">
                  <a:lnSpc>
                    <a:spcPct val="83333"/>
                  </a:lnSpc>
                  <a:defRPr/>
                </a:pPr>
                <a:r>
                  <a:rPr lang="en-US" b="false" i="false" strike="noStrike" u="none" sz="2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  <a:endParaRPr lang="en-US" sz="1100"/>
              </a:p>
            </p:txBody>
          </p:sp>
        </p:grpSp>
        <p:sp>
          <p:nvSpPr>
            <p:cNvPr name="AutoShape 13" id="13"/>
            <p:cNvSpPr/>
            <p:nvPr/>
          </p:nvSpPr>
          <p:spPr>
            <a:xfrm rot="0" flipH="false" flipV="false">
              <a:off x="6797004" y="3624993"/>
              <a:ext cx="7496295" cy="754867"/>
            </a:xfrm>
            <a:prstGeom prst="roundRect">
              <a:avLst>
                <a:gd name="adj" fmla="val 16824"/>
              </a:avLst>
            </a:prstGeom>
            <a:solidFill>
              <a:srgbClr val="F2F2F2">
                <a:alpha val="69804"/>
              </a:srgbClr>
            </a:solidFill>
            <a:ln w="12700">
              <a:noFill/>
              <a:prstDash val="solid"/>
            </a:ln>
          </p:spPr>
          <p:txBody>
            <a:bodyPr anchor="ctr" rtlCol="false" wrap="square" lIns="368300" rIns="63500" tIns="0" bIns="0">
              <a:noAutofit/>
            </a:bodyPr>
            <a:lstStyle/>
            <a:p>
              <a:pPr algn="l" marL="0" indent="0">
                <a:lnSpc>
                  <a:spcPct val="104166"/>
                </a:lnSpc>
                <a:defRPr/>
              </a:pPr>
              <a:r>
                <a:rPr lang="en-US" b="false" i="false" strike="noStrike" u="none" sz="20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示例：市场领先地位：XXXXXXXX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6797004" y="5573864"/>
              <a:ext cx="7496295" cy="754867"/>
            </a:xfrm>
            <a:prstGeom prst="roundRect">
              <a:avLst>
                <a:gd name="adj" fmla="val 16824"/>
              </a:avLst>
            </a:prstGeom>
            <a:solidFill>
              <a:srgbClr val="F2F2F2">
                <a:alpha val="69804"/>
              </a:srgbClr>
            </a:solidFill>
            <a:ln w="12700">
              <a:noFill/>
              <a:prstDash val="solid"/>
            </a:ln>
          </p:spPr>
          <p:txBody>
            <a:bodyPr anchor="ctr" rtlCol="false" wrap="square" lIns="368300" rIns="63500" tIns="0" bIns="0">
              <a:noAutofit/>
            </a:bodyPr>
            <a:lstStyle/>
            <a:p>
              <a:pPr algn="l" marL="0" indent="0">
                <a:lnSpc>
                  <a:spcPct val="104166"/>
                </a:lnSpc>
                <a:defRPr/>
              </a:pPr>
              <a:r>
                <a:rPr lang="en-US" b="false" i="false" strike="noStrike" u="none" sz="20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示例：商业模式独特：XXXXXXXX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6797004" y="6548300"/>
              <a:ext cx="7496295" cy="754867"/>
            </a:xfrm>
            <a:prstGeom prst="roundRect">
              <a:avLst>
                <a:gd name="adj" fmla="val 16824"/>
              </a:avLst>
            </a:prstGeom>
            <a:solidFill>
              <a:srgbClr val="F2F2F2">
                <a:alpha val="69804"/>
              </a:srgbClr>
            </a:solidFill>
            <a:ln w="12700">
              <a:noFill/>
              <a:prstDash val="solid"/>
            </a:ln>
          </p:spPr>
          <p:txBody>
            <a:bodyPr anchor="ctr" rtlCol="false" wrap="square" lIns="368300" rIns="63500" tIns="0" bIns="0">
              <a:noAutofit/>
            </a:bodyPr>
            <a:lstStyle/>
            <a:p>
              <a:pPr algn="l" marL="0" indent="0">
                <a:lnSpc>
                  <a:spcPct val="104166"/>
                </a:lnSpc>
                <a:defRPr/>
              </a:pPr>
              <a:r>
                <a:rPr lang="en-US" b="false" i="false" strike="noStrike" u="none" sz="20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示例：供应链优势：XXXXXXXX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6797004" y="7522735"/>
              <a:ext cx="7496295" cy="754867"/>
            </a:xfrm>
            <a:prstGeom prst="roundRect">
              <a:avLst>
                <a:gd name="adj" fmla="val 16824"/>
              </a:avLst>
            </a:prstGeom>
            <a:solidFill>
              <a:srgbClr val="F2F2F2">
                <a:alpha val="69804"/>
              </a:srgbClr>
            </a:solidFill>
            <a:ln w="12700">
              <a:noFill/>
              <a:prstDash val="solid"/>
            </a:ln>
          </p:spPr>
          <p:txBody>
            <a:bodyPr anchor="ctr" rtlCol="false" wrap="square" lIns="368300" rIns="63500" tIns="0" bIns="0">
              <a:noAutofit/>
            </a:bodyPr>
            <a:lstStyle/>
            <a:p>
              <a:pPr algn="l" marL="0" indent="0">
                <a:lnSpc>
                  <a:spcPct val="104166"/>
                </a:lnSpc>
                <a:defRPr/>
              </a:pPr>
              <a:r>
                <a:rPr lang="en-US" b="false" i="false" strike="noStrike" u="none" sz="20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示例：：XXXXXXXX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6797004" y="4599428"/>
              <a:ext cx="7496295" cy="754867"/>
            </a:xfrm>
            <a:prstGeom prst="roundRect">
              <a:avLst>
                <a:gd name="adj" fmla="val 16824"/>
              </a:avLst>
            </a:prstGeom>
            <a:solidFill>
              <a:srgbClr val="F2F2F2">
                <a:alpha val="69804"/>
              </a:srgbClr>
            </a:solidFill>
            <a:ln w="12700">
              <a:noFill/>
              <a:prstDash val="solid"/>
            </a:ln>
          </p:spPr>
          <p:txBody>
            <a:bodyPr anchor="ctr" rtlCol="false" wrap="square" lIns="368300" rIns="63500" tIns="0" bIns="0">
              <a:noAutofit/>
            </a:bodyPr>
            <a:lstStyle/>
            <a:p>
              <a:pPr algn="l" marL="0" indent="0">
                <a:lnSpc>
                  <a:spcPct val="104166"/>
                </a:lnSpc>
                <a:defRPr/>
              </a:pPr>
              <a:r>
                <a:rPr lang="en-US" b="false" i="false" strike="noStrike" u="none" sz="20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示例：团队实力强：XXXXXXXX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6797004" y="3622695"/>
              <a:ext cx="226303" cy="258716"/>
            </a:xfrm>
            <a:prstGeom prst="ellipse">
              <a:avLst/>
            </a:prstGeom>
            <a:solidFill>
              <a:srgbClr val="002060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true" i="false" strike="noStrike" u="none" sz="16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1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6795880" y="4599428"/>
              <a:ext cx="226303" cy="258716"/>
            </a:xfrm>
            <a:prstGeom prst="ellipse">
              <a:avLst/>
            </a:prstGeom>
            <a:solidFill>
              <a:srgbClr val="002060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true" i="false" strike="noStrike" u="none" sz="16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2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6809112" y="5568760"/>
              <a:ext cx="226303" cy="258716"/>
            </a:xfrm>
            <a:prstGeom prst="ellipse">
              <a:avLst/>
            </a:prstGeom>
            <a:solidFill>
              <a:srgbClr val="002060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true" i="false" strike="noStrike" u="none" sz="16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3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6809112" y="6530483"/>
              <a:ext cx="226303" cy="258716"/>
            </a:xfrm>
            <a:prstGeom prst="ellipse">
              <a:avLst/>
            </a:prstGeom>
            <a:solidFill>
              <a:srgbClr val="002060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true" i="false" strike="noStrike" u="none" sz="16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4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6795880" y="7444676"/>
              <a:ext cx="226303" cy="258716"/>
            </a:xfrm>
            <a:prstGeom prst="ellipse">
              <a:avLst/>
            </a:prstGeom>
            <a:solidFill>
              <a:srgbClr val="002060">
                <a:alpha val="100000"/>
              </a:srgbClr>
            </a:solidFill>
            <a:ln w="12700">
              <a:solidFill>
                <a:srgbClr val="FFFFFF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true" i="false" strike="noStrike" u="none" sz="1600">
                  <a:solidFill>
                    <a:srgbClr val="FFFFF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5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4288931" y="5681295"/>
              <a:ext cx="1608699" cy="50430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127000" rIns="127000" tIns="63500" bIns="63500">
              <a:noAutofit/>
            </a:bodyPr>
            <a:lstStyle/>
            <a:p>
              <a:pPr algn="l" marL="0" indent="0">
                <a:lnSpc>
                  <a:spcPct val="104166"/>
                </a:lnSpc>
                <a:defRPr/>
              </a:pPr>
              <a:r>
                <a:rPr lang="en-US" b="false" i="false" strike="noStrike" u="none" sz="24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品牌logo</a:t>
              </a:r>
              <a:endParaRPr lang="en-US" sz="1100"/>
            </a:p>
          </p:txBody>
        </p:sp>
      </p:grpSp>
      <p:sp>
        <p:nvSpPr>
          <p:cNvPr name="AutoShape 24" id="24"/>
          <p:cNvSpPr/>
          <p:nvPr/>
        </p:nvSpPr>
        <p:spPr>
          <a:xfrm rot="-1432647" flipH="false" flipV="false">
            <a:off x="12653879" y="3362684"/>
            <a:ext cx="1746029" cy="642129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sp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210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描述示例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r">
              <a:lnSpc>
                <a:spcPct val="83333"/>
              </a:lnSpc>
              <a:defRPr sz="1300" b="false" i="false" u="none" strike="noStrike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algn="r"/>
            <a:endParaRPr/>
          </a:p>
        </p:txBody>
      </p:sp>
      <p:sp>
        <p:nvSpPr>
          <p:cNvPr name="AutoShape 3" id="3"/>
          <p:cNvSpPr/>
          <p:nvPr>
            <p:ph idx="15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l">
              <a:lnSpc>
                <a:spcPct val="75000"/>
              </a:lnSpc>
              <a:defRPr sz="2600" b="tru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37189" y="1586695"/>
            <a:ext cx="1681391" cy="6640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投资亮点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true" i="false" strike="noStrike" u="none" sz="24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团队介绍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市场概况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痛点分析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商业模式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竞争格局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运营现状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未来规划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融资计划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1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832847" y="1510352"/>
            <a:ext cx="12550000" cy="69148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noAutofit/>
          </a:bodyPr>
          <a:lstStyle/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目的：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运用概况性、精炼语言来描绘团队的实力，因为团队是投资人选择早期项目的关键考核因素；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内容：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主要介绍CEO、联合创始人、关键管理人员或整体团队概况， 要体现团队经历和背景与项目的契合度；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建议：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早期项目最重要的部分；作为TMT行业创业项目，具备优秀互联网基因的团队必不可少；注意，团队描述中最好能够补充与项目所在行业有相关经验的人员。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sz="24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sz="24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>
            <a:off x="4567451" y="3784979"/>
            <a:ext cx="9098508" cy="4640239"/>
            <a:chOff x="4567451" y="3784979"/>
            <a:chExt cx="9098508" cy="4640239"/>
          </a:xfrm>
        </p:grpSpPr>
        <p:sp>
          <p:nvSpPr>
            <p:cNvPr name="AutoShape 7" id="7"/>
            <p:cNvSpPr/>
            <p:nvPr/>
          </p:nvSpPr>
          <p:spPr>
            <a:xfrm rot="0" flipH="false" flipV="false">
              <a:off x="4567451" y="3784979"/>
              <a:ext cx="9098508" cy="46402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false" i="false" strike="noStrike" u="none" sz="240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</a:t>
              </a:r>
              <a:endParaRPr lang="en-US" sz="1100"/>
            </a:p>
          </p:txBody>
        </p:sp>
        <p:grpSp>
          <p:nvGrpSpPr>
            <p:cNvPr name="Group 8" id="8"/>
            <p:cNvGrpSpPr/>
            <p:nvPr/>
          </p:nvGrpSpPr>
          <p:grpSpPr>
            <a:xfrm>
              <a:off x="4713760" y="3952063"/>
              <a:ext cx="8788173" cy="4473154"/>
              <a:chOff x="4713760" y="3952063"/>
              <a:chExt cx="8788173" cy="4473154"/>
            </a:xfrm>
          </p:grpSpPr>
          <p:sp>
            <p:nvSpPr>
              <p:cNvPr name="AutoShape 9" id="9"/>
              <p:cNvSpPr/>
              <p:nvPr/>
            </p:nvSpPr>
            <p:spPr>
              <a:xfrm rot="0" flipH="false" flipV="false">
                <a:off x="5555765" y="3952063"/>
                <a:ext cx="2804627" cy="261652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true" i="false" strike="noStrike" u="none" sz="1600">
                    <a:solidFill>
                      <a:srgbClr val="2C426A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CEO——XXX</a:t>
                </a:r>
                <a:endParaRPr lang="en-US" sz="1100"/>
              </a:p>
            </p:txBody>
          </p:sp>
          <p:sp>
            <p:nvSpPr>
              <p:cNvPr name="AutoShape 10" id="10"/>
              <p:cNvSpPr/>
              <p:nvPr/>
            </p:nvSpPr>
            <p:spPr>
              <a:xfrm rot="0" flipH="false" flipV="false">
                <a:off x="5555765" y="4225443"/>
                <a:ext cx="2804627" cy="35357"/>
              </a:xfrm>
              <a:prstGeom prst="rect">
                <a:avLst/>
              </a:prstGeom>
              <a:gradFill rotWithShape="true">
                <a:gsLst>
                  <a:gs pos="0">
                    <a:srgbClr val="9DA3B5">
                      <a:alpha val="100000"/>
                    </a:srgbClr>
                  </a:gs>
                  <a:gs pos="50000">
                    <a:srgbClr val="C4C7D1">
                      <a:alpha val="100000"/>
                    </a:srgbClr>
                  </a:gs>
                  <a:gs pos="100000">
                    <a:srgbClr val="E2E4E8">
                      <a:alpha val="100000"/>
                    </a:srgbClr>
                  </a:gs>
                </a:gsLst>
                <a:lin ang="0"/>
              </a:gradFill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false" i="false" strike="noStrike" u="none" sz="2400">
                    <a:solidFill>
                      <a:srgbClr val="7F7F7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11" id="11"/>
              <p:cNvSpPr/>
              <p:nvPr/>
            </p:nvSpPr>
            <p:spPr>
              <a:xfrm rot="0" flipH="false" flipV="false">
                <a:off x="5555765" y="4354019"/>
                <a:ext cx="3636895" cy="1458861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127000" rIns="127000" tIns="63500" bIns="63500">
                <a:noAutofit/>
              </a:bodyPr>
              <a:lstStyle/>
              <a:p>
                <a:pPr algn="l" indent="-203200" marL="203200">
                  <a:lnSpc>
                    <a:spcPct val="100000"/>
                  </a:lnSpc>
                  <a:buClr>
                    <a:srgbClr val="141414"/>
                  </a:buClr>
                  <a:buChar char="•"/>
                  <a:defRPr/>
                </a:pPr>
                <a:r>
                  <a:rPr lang="en-US" b="false" i="false" strike="noStrike" u="none" sz="1600">
                    <a:solidFill>
                      <a:srgbClr val="141414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XXX产品经理；</a:t>
                </a:r>
                <a:endParaRPr lang="en-US" sz="1100"/>
              </a:p>
              <a:p>
                <a:pPr algn="l" indent="-203200" marL="203200">
                  <a:lnSpc>
                    <a:spcPct val="100000"/>
                  </a:lnSpc>
                  <a:buClr>
                    <a:srgbClr val="141414"/>
                  </a:buClr>
                  <a:buChar char="•"/>
                </a:pPr>
                <a:r>
                  <a:rPr lang="en-US" b="false" i="false" strike="noStrike" u="none" sz="1600">
                    <a:solidFill>
                      <a:srgbClr val="141414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BAT VP，负责XXX业务等；</a:t>
                </a:r>
              </a:p>
              <a:p>
                <a:pPr algn="l" indent="-203200" marL="203200">
                  <a:lnSpc>
                    <a:spcPct val="100000"/>
                  </a:lnSpc>
                  <a:buClr>
                    <a:srgbClr val="141414"/>
                  </a:buClr>
                  <a:buChar char="•"/>
                </a:pPr>
                <a:r>
                  <a:rPr lang="en-US" b="false" i="false" strike="noStrike" u="none" sz="1600">
                    <a:solidFill>
                      <a:srgbClr val="141414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XXX大学博士/硕士</a:t>
                </a:r>
              </a:p>
              <a:p>
                <a:pPr algn="l" marL="0" indent="0">
                  <a:lnSpc>
                    <a:spcPct val="100000"/>
                  </a:lnSpc>
                </a:pPr>
                <a:r>
                  <a:rPr lang="en-US" b="false" i="false" strike="noStrike" u="none" sz="2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</a:p>
            </p:txBody>
          </p:sp>
          <p:sp>
            <p:nvSpPr>
              <p:cNvPr name="AutoShape 12" id="12"/>
              <p:cNvSpPr/>
              <p:nvPr/>
            </p:nvSpPr>
            <p:spPr>
              <a:xfrm rot="0" flipH="false" flipV="false">
                <a:off x="9768408" y="3952063"/>
                <a:ext cx="2804627" cy="261652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true" i="false" strike="noStrike" u="none" sz="1600">
                    <a:solidFill>
                      <a:srgbClr val="2C426A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联合创始人——xxx</a:t>
                </a:r>
                <a:endParaRPr lang="en-US" sz="1100"/>
              </a:p>
            </p:txBody>
          </p:sp>
          <p:sp>
            <p:nvSpPr>
              <p:cNvPr name="AutoShape 13" id="13"/>
              <p:cNvSpPr/>
              <p:nvPr/>
            </p:nvSpPr>
            <p:spPr>
              <a:xfrm rot="0" flipH="false" flipV="false">
                <a:off x="9768408" y="4225443"/>
                <a:ext cx="2804627" cy="35357"/>
              </a:xfrm>
              <a:prstGeom prst="rect">
                <a:avLst/>
              </a:prstGeom>
              <a:gradFill rotWithShape="true">
                <a:gsLst>
                  <a:gs pos="0">
                    <a:srgbClr val="9DA3B5">
                      <a:alpha val="100000"/>
                    </a:srgbClr>
                  </a:gs>
                  <a:gs pos="50000">
                    <a:srgbClr val="C4C7D1">
                      <a:alpha val="100000"/>
                    </a:srgbClr>
                  </a:gs>
                  <a:gs pos="100000">
                    <a:srgbClr val="E2E4E8">
                      <a:alpha val="100000"/>
                    </a:srgbClr>
                  </a:gs>
                </a:gsLst>
                <a:lin ang="0"/>
              </a:gradFill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false" i="false" strike="noStrike" u="none" sz="2400">
                    <a:solidFill>
                      <a:srgbClr val="7F7F7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14" id="14"/>
              <p:cNvSpPr/>
              <p:nvPr/>
            </p:nvSpPr>
            <p:spPr>
              <a:xfrm rot="0" flipH="false" flipV="false">
                <a:off x="9652008" y="4368259"/>
                <a:ext cx="3636895" cy="1458861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127000" rIns="127000" tIns="63500" bIns="63500">
                <a:noAutofit/>
              </a:bodyPr>
              <a:lstStyle/>
              <a:p>
                <a:pPr algn="l" indent="-203200" marL="203200">
                  <a:lnSpc>
                    <a:spcPct val="100000"/>
                  </a:lnSpc>
                  <a:buClr>
                    <a:srgbClr val="141414"/>
                  </a:buClr>
                  <a:buChar char="•"/>
                  <a:defRPr/>
                </a:pPr>
                <a:r>
                  <a:rPr lang="en-US" b="false" i="false" strike="noStrike" u="none" sz="1600">
                    <a:solidFill>
                      <a:srgbClr val="141414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XXX行业10+经验；</a:t>
                </a:r>
                <a:endParaRPr lang="en-US" sz="1100"/>
              </a:p>
              <a:p>
                <a:pPr algn="l" indent="-203200" marL="203200">
                  <a:lnSpc>
                    <a:spcPct val="100000"/>
                  </a:lnSpc>
                  <a:buClr>
                    <a:srgbClr val="141414"/>
                  </a:buClr>
                  <a:buChar char="•"/>
                </a:pPr>
                <a:r>
                  <a:rPr lang="en-US" b="false" i="false" strike="noStrike" u="none" sz="1600">
                    <a:solidFill>
                      <a:srgbClr val="141414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负责XXX业务12家公司董事、资本合伙人等</a:t>
                </a:r>
              </a:p>
              <a:p>
                <a:pPr algn="l" marL="0" indent="0">
                  <a:lnSpc>
                    <a:spcPct val="100000"/>
                  </a:lnSpc>
                </a:pPr>
                <a:r>
                  <a:rPr lang="en-US" b="false" i="false" strike="noStrike" u="none" sz="2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</a:p>
            </p:txBody>
          </p:sp>
          <p:grpSp>
            <p:nvGrpSpPr>
              <p:cNvPr name="Group 15" id="15"/>
              <p:cNvGrpSpPr/>
              <p:nvPr/>
            </p:nvGrpSpPr>
            <p:grpSpPr>
              <a:xfrm>
                <a:off x="5298788" y="6128468"/>
                <a:ext cx="8104476" cy="2051600"/>
                <a:chOff x="5298788" y="6128468"/>
                <a:chExt cx="8104476" cy="2051600"/>
              </a:xfrm>
            </p:grpSpPr>
            <p:sp>
              <p:nvSpPr>
                <p:cNvPr name="AutoShape 16" id="16"/>
                <p:cNvSpPr/>
                <p:nvPr/>
              </p:nvSpPr>
              <p:spPr>
                <a:xfrm rot="0" flipH="false" flipV="false">
                  <a:off x="5298788" y="6233577"/>
                  <a:ext cx="875231" cy="1220960"/>
                </a:xfrm>
                <a:prstGeom prst="rect">
                  <a:avLst/>
                </a:prstGeom>
                <a:solidFill>
                  <a:srgbClr val="FFFFFF">
                    <a:alpha val="100000"/>
                  </a:srgbClr>
                </a:solidFill>
                <a:ln w="12700">
                  <a:noFill/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83333"/>
                    </a:lnSpc>
                    <a:defRPr/>
                  </a:pPr>
                  <a:r>
                    <a:rPr lang="en-US" b="false" i="false" strike="noStrike" u="none" sz="2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 </a:t>
                  </a:r>
                  <a:endParaRPr lang="en-US" sz="1100"/>
                </a:p>
              </p:txBody>
            </p:sp>
            <p:grpSp>
              <p:nvGrpSpPr>
                <p:cNvPr name="Group 17" id="17"/>
                <p:cNvGrpSpPr/>
                <p:nvPr/>
              </p:nvGrpSpPr>
              <p:grpSpPr>
                <a:xfrm>
                  <a:off x="6732301" y="6926947"/>
                  <a:ext cx="936914" cy="1249712"/>
                  <a:chOff x="6732301" y="6926947"/>
                  <a:chExt cx="936914" cy="1249712"/>
                </a:xfrm>
              </p:grpSpPr>
              <p:sp>
                <p:nvSpPr>
                  <p:cNvPr name="AutoShape 18" id="18"/>
                  <p:cNvSpPr/>
                  <p:nvPr/>
                </p:nvSpPr>
                <p:spPr>
                  <a:xfrm rot="0" flipH="false" flipV="false">
                    <a:off x="6732301" y="6955699"/>
                    <a:ext cx="875232" cy="1220960"/>
                  </a:xfrm>
                  <a:prstGeom prst="rect">
                    <a:avLst/>
                  </a:prstGeom>
                  <a:solidFill>
                    <a:srgbClr val="FFFFFF">
                      <a:alpha val="100000"/>
                    </a:srgbClr>
                  </a:solidFill>
                  <a:ln w="12700">
                    <a:noFill/>
                    <a:prstDash val="solid"/>
                  </a:ln>
                </p:spPr>
                <p:txBody>
                  <a:bodyPr anchor="ctr" rtlCol="false" wrap="square" lIns="127000" rIns="127000" tIns="63500" bIns="63500">
                    <a:noAutofit/>
                  </a:bodyPr>
                  <a:lstStyle/>
                  <a:p>
                    <a:pPr algn="ctr" marL="0" indent="0">
                      <a:lnSpc>
                        <a:spcPct val="83333"/>
                      </a:lnSpc>
                      <a:defRPr/>
                    </a:pPr>
                    <a:r>
                      <a:rPr lang="en-US" b="false" i="false" strike="noStrike" u="none" sz="2400">
                        <a:solidFill>
                          <a:srgbClr val="7F7F7F"/>
                        </a:solidFill>
                        <a:latin typeface="微软雅黑"/>
                        <a:ea typeface="微软雅黑"/>
                        <a:cs typeface="微软雅黑"/>
                        <a:sym typeface="微软雅黑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name="AutoShape 19" id="19"/>
                  <p:cNvSpPr/>
                  <p:nvPr/>
                </p:nvSpPr>
                <p:spPr>
                  <a:xfrm rot="0" flipH="false" flipV="false">
                    <a:off x="7614040" y="6926947"/>
                    <a:ext cx="55175" cy="1220960"/>
                  </a:xfrm>
                  <a:prstGeom prst="rect">
                    <a:avLst/>
                  </a:prstGeom>
                  <a:solidFill>
                    <a:srgbClr val="FAC08F">
                      <a:alpha val="100000"/>
                    </a:srgbClr>
                  </a:solidFill>
                  <a:ln w="12700">
                    <a:noFill/>
                    <a:prstDash val="solid"/>
                  </a:ln>
                </p:spPr>
                <p:txBody>
                  <a:bodyPr anchor="ctr" rtlCol="false" wrap="square" lIns="127000" rIns="127000" tIns="63500" bIns="63500">
                    <a:noAutofit/>
                  </a:bodyPr>
                  <a:lstStyle/>
                  <a:p>
                    <a:pPr algn="ctr" marL="0" indent="0">
                      <a:lnSpc>
                        <a:spcPct val="83333"/>
                      </a:lnSpc>
                      <a:defRPr/>
                    </a:pPr>
                    <a:r>
                      <a:rPr lang="en-US" b="false" i="false" strike="noStrike" u="none" sz="2400">
                        <a:solidFill>
                          <a:srgbClr val="7F7F7F"/>
                        </a:solidFill>
                        <a:latin typeface="微软雅黑"/>
                        <a:ea typeface="微软雅黑"/>
                        <a:cs typeface="微软雅黑"/>
                        <a:sym typeface="微软雅黑"/>
                      </a:rPr>
                      <a:t> </a:t>
                    </a:r>
                    <a:endParaRPr lang="en-US" sz="1100"/>
                  </a:p>
                </p:txBody>
              </p:sp>
            </p:grpSp>
            <p:grpSp>
              <p:nvGrpSpPr>
                <p:cNvPr name="Group 20" id="20"/>
                <p:cNvGrpSpPr/>
                <p:nvPr/>
              </p:nvGrpSpPr>
              <p:grpSpPr>
                <a:xfrm>
                  <a:off x="8165813" y="6128468"/>
                  <a:ext cx="936914" cy="1459171"/>
                  <a:chOff x="8165813" y="6128468"/>
                  <a:chExt cx="936914" cy="1459171"/>
                </a:xfrm>
              </p:grpSpPr>
              <p:sp>
                <p:nvSpPr>
                  <p:cNvPr name="AutoShape 21" id="21"/>
                  <p:cNvSpPr/>
                  <p:nvPr/>
                </p:nvSpPr>
                <p:spPr>
                  <a:xfrm rot="0" flipH="false" flipV="false">
                    <a:off x="8165813" y="6128468"/>
                    <a:ext cx="875232" cy="1220960"/>
                  </a:xfrm>
                  <a:prstGeom prst="rect">
                    <a:avLst/>
                  </a:prstGeom>
                  <a:solidFill>
                    <a:srgbClr val="FFFFFF">
                      <a:alpha val="100000"/>
                    </a:srgbClr>
                  </a:solidFill>
                  <a:ln w="12700">
                    <a:noFill/>
                    <a:prstDash val="solid"/>
                  </a:ln>
                </p:spPr>
                <p:txBody>
                  <a:bodyPr anchor="ctr" rtlCol="false" wrap="square" lIns="127000" rIns="127000" tIns="63500" bIns="63500">
                    <a:noAutofit/>
                  </a:bodyPr>
                  <a:lstStyle/>
                  <a:p>
                    <a:pPr algn="ctr" marL="0" indent="0">
                      <a:lnSpc>
                        <a:spcPct val="83333"/>
                      </a:lnSpc>
                      <a:defRPr/>
                    </a:pPr>
                    <a:r>
                      <a:rPr lang="en-US" b="false" i="false" strike="noStrike" u="none" sz="2400">
                        <a:solidFill>
                          <a:srgbClr val="7F7F7F"/>
                        </a:solidFill>
                        <a:latin typeface="微软雅黑"/>
                        <a:ea typeface="微软雅黑"/>
                        <a:cs typeface="微软雅黑"/>
                        <a:sym typeface="微软雅黑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name="AutoShape 22" id="22"/>
                  <p:cNvSpPr/>
                  <p:nvPr/>
                </p:nvSpPr>
                <p:spPr>
                  <a:xfrm rot="0" flipH="false" flipV="false">
                    <a:off x="9047552" y="6366680"/>
                    <a:ext cx="55175" cy="1220959"/>
                  </a:xfrm>
                  <a:prstGeom prst="rect">
                    <a:avLst/>
                  </a:prstGeom>
                  <a:solidFill>
                    <a:srgbClr val="FAC08F">
                      <a:alpha val="100000"/>
                    </a:srgbClr>
                  </a:solidFill>
                  <a:ln w="12700">
                    <a:noFill/>
                    <a:prstDash val="solid"/>
                  </a:ln>
                </p:spPr>
                <p:txBody>
                  <a:bodyPr anchor="ctr" rtlCol="false" wrap="square" lIns="127000" rIns="127000" tIns="63500" bIns="63500">
                    <a:noAutofit/>
                  </a:bodyPr>
                  <a:lstStyle/>
                  <a:p>
                    <a:pPr algn="ctr" marL="0" indent="0">
                      <a:lnSpc>
                        <a:spcPct val="83333"/>
                      </a:lnSpc>
                      <a:defRPr/>
                    </a:pPr>
                    <a:r>
                      <a:rPr lang="en-US" b="false" i="false" strike="noStrike" u="none" sz="2400">
                        <a:solidFill>
                          <a:srgbClr val="7F7F7F"/>
                        </a:solidFill>
                        <a:latin typeface="微软雅黑"/>
                        <a:ea typeface="微软雅黑"/>
                        <a:cs typeface="微软雅黑"/>
                        <a:sym typeface="微软雅黑"/>
                      </a:rPr>
                      <a:t> </a:t>
                    </a:r>
                    <a:endParaRPr lang="en-US" sz="1100"/>
                  </a:p>
                </p:txBody>
              </p:sp>
            </p:grpSp>
            <p:grpSp>
              <p:nvGrpSpPr>
                <p:cNvPr name="Group 23" id="23"/>
                <p:cNvGrpSpPr/>
                <p:nvPr/>
              </p:nvGrpSpPr>
              <p:grpSpPr>
                <a:xfrm>
                  <a:off x="9599327" y="6937668"/>
                  <a:ext cx="936913" cy="1238991"/>
                  <a:chOff x="9599327" y="6937668"/>
                  <a:chExt cx="936913" cy="1238991"/>
                </a:xfrm>
              </p:grpSpPr>
              <p:sp>
                <p:nvSpPr>
                  <p:cNvPr name="AutoShape 24" id="24"/>
                  <p:cNvSpPr/>
                  <p:nvPr/>
                </p:nvSpPr>
                <p:spPr>
                  <a:xfrm rot="0" flipH="false" flipV="false">
                    <a:off x="9599327" y="6955700"/>
                    <a:ext cx="875232" cy="1220959"/>
                  </a:xfrm>
                  <a:prstGeom prst="rect">
                    <a:avLst/>
                  </a:prstGeom>
                  <a:solidFill>
                    <a:srgbClr val="FFFFFF">
                      <a:alpha val="100000"/>
                    </a:srgbClr>
                  </a:solidFill>
                  <a:ln w="12700">
                    <a:noFill/>
                    <a:prstDash val="solid"/>
                  </a:ln>
                </p:spPr>
                <p:txBody>
                  <a:bodyPr anchor="ctr" rtlCol="false" wrap="square" lIns="127000" rIns="127000" tIns="63500" bIns="63500">
                    <a:noAutofit/>
                  </a:bodyPr>
                  <a:lstStyle/>
                  <a:p>
                    <a:pPr algn="ctr" marL="0" indent="0">
                      <a:lnSpc>
                        <a:spcPct val="83333"/>
                      </a:lnSpc>
                      <a:defRPr/>
                    </a:pPr>
                    <a:r>
                      <a:rPr lang="en-US" b="false" i="false" strike="noStrike" u="none" sz="2400">
                        <a:solidFill>
                          <a:srgbClr val="7F7F7F"/>
                        </a:solidFill>
                        <a:latin typeface="微软雅黑"/>
                        <a:ea typeface="微软雅黑"/>
                        <a:cs typeface="微软雅黑"/>
                        <a:sym typeface="微软雅黑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name="AutoShape 25" id="25"/>
                  <p:cNvSpPr/>
                  <p:nvPr/>
                </p:nvSpPr>
                <p:spPr>
                  <a:xfrm rot="0" flipH="false" flipV="false">
                    <a:off x="10481065" y="6937668"/>
                    <a:ext cx="55175" cy="1220959"/>
                  </a:xfrm>
                  <a:prstGeom prst="rect">
                    <a:avLst/>
                  </a:prstGeom>
                  <a:solidFill>
                    <a:srgbClr val="FAC08F">
                      <a:alpha val="100000"/>
                    </a:srgbClr>
                  </a:solidFill>
                  <a:ln w="12700">
                    <a:noFill/>
                    <a:prstDash val="solid"/>
                  </a:ln>
                </p:spPr>
                <p:txBody>
                  <a:bodyPr anchor="ctr" rtlCol="false" wrap="square" lIns="127000" rIns="127000" tIns="63500" bIns="63500">
                    <a:noAutofit/>
                  </a:bodyPr>
                  <a:lstStyle/>
                  <a:p>
                    <a:pPr algn="ctr" marL="0" indent="0">
                      <a:lnSpc>
                        <a:spcPct val="83333"/>
                      </a:lnSpc>
                      <a:defRPr/>
                    </a:pPr>
                    <a:r>
                      <a:rPr lang="en-US" b="false" i="false" strike="noStrike" u="none" sz="2400">
                        <a:solidFill>
                          <a:srgbClr val="7F7F7F"/>
                        </a:solidFill>
                        <a:latin typeface="微软雅黑"/>
                        <a:ea typeface="微软雅黑"/>
                        <a:cs typeface="微软雅黑"/>
                        <a:sym typeface="微软雅黑"/>
                      </a:rPr>
                      <a:t> </a:t>
                    </a:r>
                    <a:endParaRPr lang="en-US" sz="1100"/>
                  </a:p>
                </p:txBody>
              </p:sp>
            </p:grpSp>
            <p:grpSp>
              <p:nvGrpSpPr>
                <p:cNvPr name="Group 26" id="26"/>
                <p:cNvGrpSpPr/>
                <p:nvPr/>
              </p:nvGrpSpPr>
              <p:grpSpPr>
                <a:xfrm>
                  <a:off x="11032840" y="6181023"/>
                  <a:ext cx="936914" cy="1375502"/>
                  <a:chOff x="11032840" y="6181023"/>
                  <a:chExt cx="936914" cy="1375502"/>
                </a:xfrm>
              </p:grpSpPr>
              <p:sp>
                <p:nvSpPr>
                  <p:cNvPr name="AutoShape 27" id="27"/>
                  <p:cNvSpPr/>
                  <p:nvPr/>
                </p:nvSpPr>
                <p:spPr>
                  <a:xfrm rot="0" flipH="false" flipV="false">
                    <a:off x="11032840" y="6181023"/>
                    <a:ext cx="875232" cy="1220960"/>
                  </a:xfrm>
                  <a:prstGeom prst="rect">
                    <a:avLst/>
                  </a:prstGeom>
                  <a:solidFill>
                    <a:srgbClr val="FFFFFF">
                      <a:alpha val="100000"/>
                    </a:srgbClr>
                  </a:solidFill>
                  <a:ln w="12700">
                    <a:noFill/>
                    <a:prstDash val="solid"/>
                  </a:ln>
                </p:spPr>
                <p:txBody>
                  <a:bodyPr anchor="ctr" rtlCol="false" wrap="square" lIns="127000" rIns="127000" tIns="63500" bIns="63500">
                    <a:noAutofit/>
                  </a:bodyPr>
                  <a:lstStyle/>
                  <a:p>
                    <a:pPr algn="ctr" marL="0" indent="0">
                      <a:lnSpc>
                        <a:spcPct val="83333"/>
                      </a:lnSpc>
                      <a:defRPr/>
                    </a:pPr>
                    <a:r>
                      <a:rPr lang="en-US" b="false" i="false" strike="noStrike" u="none" sz="2400">
                        <a:solidFill>
                          <a:srgbClr val="7F7F7F"/>
                        </a:solidFill>
                        <a:latin typeface="微软雅黑"/>
                        <a:ea typeface="微软雅黑"/>
                        <a:cs typeface="微软雅黑"/>
                        <a:sym typeface="微软雅黑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name="AutoShape 28" id="28"/>
                  <p:cNvSpPr/>
                  <p:nvPr/>
                </p:nvSpPr>
                <p:spPr>
                  <a:xfrm rot="0" flipH="false" flipV="false">
                    <a:off x="11914579" y="6335565"/>
                    <a:ext cx="55175" cy="1220960"/>
                  </a:xfrm>
                  <a:prstGeom prst="rect">
                    <a:avLst/>
                  </a:prstGeom>
                  <a:solidFill>
                    <a:srgbClr val="FAC08F">
                      <a:alpha val="100000"/>
                    </a:srgbClr>
                  </a:solidFill>
                  <a:ln w="12700">
                    <a:noFill/>
                    <a:prstDash val="solid"/>
                  </a:ln>
                </p:spPr>
                <p:txBody>
                  <a:bodyPr anchor="ctr" rtlCol="false" wrap="square" lIns="127000" rIns="127000" tIns="63500" bIns="63500">
                    <a:noAutofit/>
                  </a:bodyPr>
                  <a:lstStyle/>
                  <a:p>
                    <a:pPr algn="ctr" marL="0" indent="0">
                      <a:lnSpc>
                        <a:spcPct val="83333"/>
                      </a:lnSpc>
                      <a:defRPr/>
                    </a:pPr>
                    <a:r>
                      <a:rPr lang="en-US" b="false" i="false" strike="noStrike" u="none" sz="2400">
                        <a:solidFill>
                          <a:srgbClr val="7F7F7F"/>
                        </a:solidFill>
                        <a:latin typeface="微软雅黑"/>
                        <a:ea typeface="微软雅黑"/>
                        <a:cs typeface="微软雅黑"/>
                        <a:sym typeface="微软雅黑"/>
                      </a:rPr>
                      <a:t> </a:t>
                    </a:r>
                    <a:endParaRPr lang="en-US" sz="1100"/>
                  </a:p>
                </p:txBody>
              </p:sp>
            </p:grpSp>
            <p:grpSp>
              <p:nvGrpSpPr>
                <p:cNvPr name="Group 29" id="29"/>
                <p:cNvGrpSpPr/>
                <p:nvPr/>
              </p:nvGrpSpPr>
              <p:grpSpPr>
                <a:xfrm>
                  <a:off x="12466351" y="6869936"/>
                  <a:ext cx="936913" cy="1310132"/>
                  <a:chOff x="12466351" y="6869936"/>
                  <a:chExt cx="936913" cy="1310132"/>
                </a:xfrm>
              </p:grpSpPr>
              <p:sp>
                <p:nvSpPr>
                  <p:cNvPr name="AutoShape 30" id="30"/>
                  <p:cNvSpPr/>
                  <p:nvPr/>
                </p:nvSpPr>
                <p:spPr>
                  <a:xfrm rot="0" flipH="false" flipV="false">
                    <a:off x="12466351" y="6869936"/>
                    <a:ext cx="875232" cy="1220960"/>
                  </a:xfrm>
                  <a:prstGeom prst="rect">
                    <a:avLst/>
                  </a:prstGeom>
                  <a:solidFill>
                    <a:srgbClr val="FFFFFF">
                      <a:alpha val="100000"/>
                    </a:srgbClr>
                  </a:solidFill>
                  <a:ln w="12700">
                    <a:noFill/>
                    <a:prstDash val="solid"/>
                  </a:ln>
                </p:spPr>
                <p:txBody>
                  <a:bodyPr anchor="ctr" rtlCol="false" wrap="square" lIns="127000" rIns="127000" tIns="63500" bIns="63500">
                    <a:noAutofit/>
                  </a:bodyPr>
                  <a:lstStyle/>
                  <a:p>
                    <a:pPr algn="ctr" marL="0" indent="0">
                      <a:lnSpc>
                        <a:spcPct val="83333"/>
                      </a:lnSpc>
                      <a:defRPr/>
                    </a:pPr>
                    <a:r>
                      <a:rPr lang="en-US" b="false" i="false" strike="noStrike" u="none" sz="2400">
                        <a:solidFill>
                          <a:srgbClr val="7F7F7F"/>
                        </a:solidFill>
                        <a:latin typeface="微软雅黑"/>
                        <a:ea typeface="微软雅黑"/>
                        <a:cs typeface="微软雅黑"/>
                        <a:sym typeface="微软雅黑"/>
                      </a:rPr>
                      <a:t> </a:t>
                    </a:r>
                    <a:endParaRPr lang="en-US" sz="1100"/>
                  </a:p>
                </p:txBody>
              </p:sp>
              <p:sp>
                <p:nvSpPr>
                  <p:cNvPr name="AutoShape 31" id="31"/>
                  <p:cNvSpPr/>
                  <p:nvPr/>
                </p:nvSpPr>
                <p:spPr>
                  <a:xfrm rot="0" flipH="false" flipV="false">
                    <a:off x="13348091" y="6959109"/>
                    <a:ext cx="55173" cy="1220959"/>
                  </a:xfrm>
                  <a:prstGeom prst="rect">
                    <a:avLst/>
                  </a:prstGeom>
                  <a:solidFill>
                    <a:srgbClr val="FAC08F">
                      <a:alpha val="100000"/>
                    </a:srgbClr>
                  </a:solidFill>
                  <a:ln w="12700">
                    <a:noFill/>
                    <a:prstDash val="solid"/>
                  </a:ln>
                </p:spPr>
                <p:txBody>
                  <a:bodyPr anchor="ctr" rtlCol="false" wrap="square" lIns="127000" rIns="127000" tIns="63500" bIns="63500">
                    <a:noAutofit/>
                  </a:bodyPr>
                  <a:lstStyle/>
                  <a:p>
                    <a:pPr algn="ctr" marL="0" indent="0">
                      <a:lnSpc>
                        <a:spcPct val="83333"/>
                      </a:lnSpc>
                      <a:defRPr/>
                    </a:pPr>
                    <a:r>
                      <a:rPr lang="en-US" b="false" i="false" strike="noStrike" u="none" sz="2400">
                        <a:solidFill>
                          <a:srgbClr val="7F7F7F"/>
                        </a:solidFill>
                        <a:latin typeface="微软雅黑"/>
                        <a:ea typeface="微软雅黑"/>
                        <a:cs typeface="微软雅黑"/>
                        <a:sym typeface="微软雅黑"/>
                      </a:rPr>
                      <a:t> </a:t>
                    </a:r>
                    <a:endParaRPr lang="en-US" sz="1100"/>
                  </a:p>
                </p:txBody>
              </p:sp>
            </p:grpSp>
          </p:grpSp>
          <p:sp>
            <p:nvSpPr>
              <p:cNvPr name="AutoShape 32" id="32"/>
              <p:cNvSpPr/>
              <p:nvPr/>
            </p:nvSpPr>
            <p:spPr>
              <a:xfrm rot="0" flipH="false" flipV="false">
                <a:off x="4713760" y="6366680"/>
                <a:ext cx="1643389" cy="206931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true" i="false" strike="noStrike" u="none" sz="1600">
                    <a:solidFill>
                      <a:srgbClr val="2C426A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技术</a:t>
                </a:r>
                <a:endParaRPr lang="en-US" sz="1100"/>
              </a:p>
            </p:txBody>
          </p:sp>
          <p:sp>
            <p:nvSpPr>
              <p:cNvPr name="AutoShape 33" id="33"/>
              <p:cNvSpPr/>
              <p:nvPr/>
            </p:nvSpPr>
            <p:spPr>
              <a:xfrm rot="0" flipH="false" flipV="false">
                <a:off x="5052891" y="6710452"/>
                <a:ext cx="1111899" cy="1279924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127000" rIns="127000" tIns="63500" bIns="6350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600">
                    <a:solidFill>
                      <a:srgbClr val="5F5F5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在搜索、互联网金融算法等专家X人</a:t>
                </a:r>
                <a:endParaRPr lang="en-US" sz="1100"/>
              </a:p>
            </p:txBody>
          </p:sp>
          <p:sp>
            <p:nvSpPr>
              <p:cNvPr name="AutoShape 34" id="34"/>
              <p:cNvSpPr/>
              <p:nvPr/>
            </p:nvSpPr>
            <p:spPr>
              <a:xfrm rot="0" flipH="false" flipV="false">
                <a:off x="6150632" y="6928132"/>
                <a:ext cx="1643389" cy="206931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true" i="false" strike="noStrike" u="none" sz="1600">
                    <a:solidFill>
                      <a:srgbClr val="2C426A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产品研发</a:t>
                </a:r>
                <a:endParaRPr lang="en-US" sz="1100"/>
              </a:p>
            </p:txBody>
          </p:sp>
          <p:sp>
            <p:nvSpPr>
              <p:cNvPr name="AutoShape 35" id="35"/>
              <p:cNvSpPr/>
              <p:nvPr/>
            </p:nvSpPr>
            <p:spPr>
              <a:xfrm rot="0" flipH="false" flipV="false">
                <a:off x="6446237" y="7223567"/>
                <a:ext cx="1438128" cy="548567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127000" rIns="127000" tIns="63500" bIns="6350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600">
                    <a:solidFill>
                      <a:srgbClr val="5F5F5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pc：XX人</a:t>
                </a:r>
                <a:endParaRPr lang="en-US" sz="1100"/>
              </a:p>
              <a:p>
                <a:pPr algn="l" marL="0" indent="0">
                  <a:lnSpc>
                    <a:spcPct val="100000"/>
                  </a:lnSpc>
                </a:pPr>
                <a:r>
                  <a:rPr lang="en-US" b="false" i="false" strike="noStrike" u="none" sz="1600">
                    <a:solidFill>
                      <a:srgbClr val="5F5F5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移动端：XXX人</a:t>
                </a:r>
              </a:p>
            </p:txBody>
          </p:sp>
          <p:sp>
            <p:nvSpPr>
              <p:cNvPr name="AutoShape 36" id="36"/>
              <p:cNvSpPr/>
              <p:nvPr/>
            </p:nvSpPr>
            <p:spPr>
              <a:xfrm rot="0" flipH="false" flipV="false">
                <a:off x="7485896" y="6400639"/>
                <a:ext cx="1643389" cy="206931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true" i="false" strike="noStrike" u="none" sz="1600">
                    <a:solidFill>
                      <a:srgbClr val="2C426A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产品及网运营</a:t>
                </a:r>
                <a:endParaRPr lang="en-US" sz="1100"/>
              </a:p>
            </p:txBody>
          </p:sp>
          <p:sp>
            <p:nvSpPr>
              <p:cNvPr name="AutoShape 37" id="37"/>
              <p:cNvSpPr/>
              <p:nvPr/>
            </p:nvSpPr>
            <p:spPr>
              <a:xfrm rot="0" flipH="false" flipV="false">
                <a:off x="7759801" y="6705975"/>
                <a:ext cx="1169303" cy="479651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127000" rIns="127000" tIns="63500" bIns="6350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600">
                    <a:solidFill>
                      <a:srgbClr val="5F5F5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产品、APP运营共XXX人</a:t>
                </a:r>
                <a:endParaRPr lang="en-US" sz="1100"/>
              </a:p>
            </p:txBody>
          </p:sp>
          <p:sp>
            <p:nvSpPr>
              <p:cNvPr name="AutoShape 38" id="38"/>
              <p:cNvSpPr/>
              <p:nvPr/>
            </p:nvSpPr>
            <p:spPr>
              <a:xfrm rot="0" flipH="false" flipV="false">
                <a:off x="8946248" y="6864484"/>
                <a:ext cx="1643389" cy="206931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true" i="false" strike="noStrike" u="none" sz="1600">
                    <a:solidFill>
                      <a:srgbClr val="2C426A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市场合作</a:t>
                </a:r>
                <a:endParaRPr lang="en-US" sz="1100"/>
              </a:p>
            </p:txBody>
          </p:sp>
          <p:sp>
            <p:nvSpPr>
              <p:cNvPr name="AutoShape 39" id="39"/>
              <p:cNvSpPr/>
              <p:nvPr/>
            </p:nvSpPr>
            <p:spPr>
              <a:xfrm rot="0" flipH="false" flipV="false">
                <a:off x="9243193" y="7120245"/>
                <a:ext cx="1200719" cy="1304972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127000" rIns="127000" tIns="63500" bIns="6350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600">
                    <a:solidFill>
                      <a:srgbClr val="5F5F5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运营管理，展厅运营管理共XXX人</a:t>
                </a:r>
                <a:endParaRPr lang="en-US" sz="1100"/>
              </a:p>
            </p:txBody>
          </p:sp>
          <p:sp>
            <p:nvSpPr>
              <p:cNvPr name="AutoShape 40" id="40"/>
              <p:cNvSpPr/>
              <p:nvPr/>
            </p:nvSpPr>
            <p:spPr>
              <a:xfrm rot="0" flipH="false" flipV="false">
                <a:off x="10346429" y="6397643"/>
                <a:ext cx="1643389" cy="206931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true" i="false" strike="noStrike" u="none" sz="1600">
                    <a:solidFill>
                      <a:srgbClr val="2C426A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商户服务</a:t>
                </a:r>
                <a:endParaRPr lang="en-US" sz="1100"/>
              </a:p>
            </p:txBody>
          </p:sp>
          <p:sp>
            <p:nvSpPr>
              <p:cNvPr name="AutoShape 41" id="41"/>
              <p:cNvSpPr/>
              <p:nvPr/>
            </p:nvSpPr>
            <p:spPr>
              <a:xfrm rot="0" flipH="false" flipV="false">
                <a:off x="10704716" y="6662289"/>
                <a:ext cx="1174721" cy="1304972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127000" rIns="127000" tIns="63500" bIns="6350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600">
                    <a:solidFill>
                      <a:srgbClr val="5F5F5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包括代运营、等服务工作共XXX人</a:t>
                </a:r>
                <a:endParaRPr lang="en-US" sz="1100"/>
              </a:p>
            </p:txBody>
          </p:sp>
          <p:sp>
            <p:nvSpPr>
              <p:cNvPr name="AutoShape 42" id="42"/>
              <p:cNvSpPr/>
              <p:nvPr/>
            </p:nvSpPr>
            <p:spPr>
              <a:xfrm rot="0" flipH="false" flipV="false">
                <a:off x="11858544" y="6830075"/>
                <a:ext cx="1643389" cy="206931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true" i="false" strike="noStrike" u="none" sz="1600">
                    <a:solidFill>
                      <a:srgbClr val="2C426A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用户服务</a:t>
                </a:r>
                <a:endParaRPr lang="en-US" sz="1100"/>
              </a:p>
            </p:txBody>
          </p:sp>
          <p:sp>
            <p:nvSpPr>
              <p:cNvPr name="AutoShape 43" id="43"/>
              <p:cNvSpPr/>
              <p:nvPr/>
            </p:nvSpPr>
            <p:spPr>
              <a:xfrm rot="0" flipH="false" flipV="false">
                <a:off x="12055833" y="7096741"/>
                <a:ext cx="1388861" cy="714041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127000" rIns="127000" tIns="63500" bIns="63500">
                <a:noAutofit/>
              </a:bodyPr>
              <a:lstStyle/>
              <a:p>
                <a:pPr algn="l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600">
                    <a:solidFill>
                      <a:srgbClr val="5F5F5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服务工作共XXX人</a:t>
                </a:r>
                <a:endParaRPr lang="en-US" sz="1100"/>
              </a:p>
            </p:txBody>
          </p:sp>
          <p:sp>
            <p:nvSpPr>
              <p:cNvPr name="AutoShape 44" id="44"/>
              <p:cNvSpPr/>
              <p:nvPr/>
            </p:nvSpPr>
            <p:spPr>
              <a:xfrm rot="0" flipH="false" flipV="false">
                <a:off x="6633789" y="5722180"/>
                <a:ext cx="4931003" cy="261652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true" i="false" strike="noStrike" u="none" sz="1600">
                    <a:solidFill>
                      <a:srgbClr val="FFC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超强互联网基因+线下实体运营能力的团队，XXX人</a:t>
                </a:r>
                <a:endParaRPr lang="en-US" sz="1100"/>
              </a:p>
            </p:txBody>
          </p:sp>
          <p:cxnSp>
            <p:nvCxnSpPr>
              <p:cNvPr name="Connector 45" id="45"/>
              <p:cNvCxnSpPr/>
              <p:nvPr/>
            </p:nvCxnSpPr>
            <p:spPr>
              <a:xfrm rot="0" flipH="false" flipV="false">
                <a:off x="5353312" y="5581016"/>
                <a:ext cx="3066075" cy="0"/>
              </a:xfrm>
              <a:prstGeom prst="straightConnector1">
                <a:avLst/>
              </a:prstGeom>
              <a:noFill/>
              <a:ln w="12700">
                <a:solidFill>
                  <a:srgbClr val="FFC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</p:cxnSp>
          <p:cxnSp>
            <p:nvCxnSpPr>
              <p:cNvPr name="Connector 46" id="46"/>
              <p:cNvCxnSpPr/>
              <p:nvPr/>
            </p:nvCxnSpPr>
            <p:spPr>
              <a:xfrm rot="0" flipH="false" flipV="true">
                <a:off x="8904563" y="6151711"/>
                <a:ext cx="3561788" cy="0"/>
              </a:xfrm>
              <a:prstGeom prst="straightConnector1">
                <a:avLst/>
              </a:prstGeom>
              <a:noFill/>
              <a:ln w="12700">
                <a:solidFill>
                  <a:srgbClr val="FFC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name="AutoShape 47" id="47"/>
              <p:cNvSpPr/>
              <p:nvPr/>
            </p:nvSpPr>
            <p:spPr>
              <a:xfrm rot="0" flipH="false" flipV="false">
                <a:off x="6166219" y="6375996"/>
                <a:ext cx="55175" cy="1220959"/>
              </a:xfrm>
              <a:prstGeom prst="rect">
                <a:avLst/>
              </a:prstGeom>
              <a:solidFill>
                <a:srgbClr val="FAC08F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false" i="false" strike="noStrike" u="none" sz="2400">
                    <a:solidFill>
                      <a:srgbClr val="7F7F7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  <a:endParaRPr lang="en-US" sz="1100"/>
              </a:p>
            </p:txBody>
          </p:sp>
        </p:grpSp>
      </p:grpSp>
      <p:sp>
        <p:nvSpPr>
          <p:cNvPr name="AutoShape 48" id="48"/>
          <p:cNvSpPr/>
          <p:nvPr/>
        </p:nvSpPr>
        <p:spPr>
          <a:xfrm rot="-1432647" flipH="false" flipV="false">
            <a:off x="12895647" y="3842039"/>
            <a:ext cx="1746029" cy="642129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sp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210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描述示例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148913" y="3784979"/>
            <a:ext cx="9780083" cy="4640239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no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24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r">
              <a:lnSpc>
                <a:spcPct val="83333"/>
              </a:lnSpc>
              <a:defRPr sz="1300" b="false" i="false" u="none" strike="noStrike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algn="r"/>
            <a:endParaRPr/>
          </a:p>
        </p:txBody>
      </p:sp>
      <p:sp>
        <p:nvSpPr>
          <p:cNvPr name="AutoShape 4" id="4"/>
          <p:cNvSpPr/>
          <p:nvPr>
            <p:ph idx="15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l">
              <a:lnSpc>
                <a:spcPct val="75000"/>
              </a:lnSpc>
              <a:defRPr sz="2600" b="tru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37189" y="1586695"/>
            <a:ext cx="1681391" cy="6640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投资亮点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团队介绍</a:t>
            </a:r>
          </a:p>
          <a:p>
            <a:pPr algn="l" marL="0" indent="0">
              <a:lnSpc>
                <a:spcPct val="104166"/>
              </a:lnSpc>
            </a:pPr>
            <a:r>
              <a:rPr lang="en-US" b="true" i="false" strike="noStrike" u="none" sz="24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市场概况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痛点分析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商业模式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竞争格局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运营现状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未来规划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融资计划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1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832847" y="1510352"/>
            <a:ext cx="12550000" cy="69148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noAutofit/>
          </a:bodyPr>
          <a:lstStyle/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目的：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描绘项目整体情况，使投资人对项目有个大致的了解；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内容：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可以是项目推出什么产品、采用什么模式，进军什么领域等整体业务的描绘或发展历程等；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建议：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如若该章节内容与【商业模式】章节内容有所重复，可以考虑删除；务必使投资者通过该页面，能够对项目有个直观的感知。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  <p:grpSp>
        <p:nvGrpSpPr>
          <p:cNvPr name="Group 7" id="7"/>
          <p:cNvGrpSpPr/>
          <p:nvPr/>
        </p:nvGrpSpPr>
        <p:grpSpPr>
          <a:xfrm>
            <a:off x="4357367" y="3747675"/>
            <a:ext cx="9571629" cy="4479245"/>
            <a:chOff x="4357367" y="3747675"/>
            <a:chExt cx="9571629" cy="4479245"/>
          </a:xfrm>
        </p:grpSpPr>
        <p:cxnSp>
          <p:nvCxnSpPr>
            <p:cNvPr name="Connector 8" id="8"/>
            <p:cNvCxnSpPr/>
            <p:nvPr/>
          </p:nvCxnSpPr>
          <p:spPr>
            <a:xfrm rot="0" flipH="false" flipV="false">
              <a:off x="10054692" y="4604039"/>
              <a:ext cx="0" cy="615492"/>
            </a:xfrm>
            <a:prstGeom prst="straightConnector1">
              <a:avLst/>
            </a:prstGeom>
            <a:noFill/>
            <a:ln w="12700">
              <a:solidFill>
                <a:srgbClr val="7F7F7F">
                  <a:alpha val="100000"/>
                </a:srgbClr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name="AutoShape 9" id="9"/>
            <p:cNvSpPr/>
            <p:nvPr/>
          </p:nvSpPr>
          <p:spPr>
            <a:xfrm rot="0" flipH="false" flipV="false">
              <a:off x="4357367" y="4112525"/>
              <a:ext cx="2380000" cy="4114395"/>
            </a:xfrm>
            <a:prstGeom prst="roundRect">
              <a:avLst>
                <a:gd name="adj" fmla="val 16542"/>
              </a:avLst>
            </a:prstGeom>
            <a:solidFill>
              <a:srgbClr val="FFFFFF">
                <a:alpha val="100000"/>
              </a:srgbClr>
            </a:solidFill>
            <a:ln w="12700">
              <a:solidFill>
                <a:srgbClr val="BC8C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true" i="false" strike="noStrike" u="none" sz="2400">
                  <a:solidFill>
                    <a:srgbClr val="FFC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XXXXX</a:t>
              </a:r>
              <a:r>
                <a:rPr lang="en-US" b="true" i="false" strike="noStrike" u="none" sz="3700">
                  <a:solidFill>
                    <a:srgbClr val="FFC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—</a:t>
              </a:r>
              <a:r>
                <a:rPr lang="en-US" b="false" i="false" strike="noStrike" u="none" sz="21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是XXXXXXXXXXXXXXXXXXXXXXXXXXXXXXXXXXXXXXXXXXXXXXX</a:t>
              </a:r>
              <a:endParaRPr lang="en-US" sz="1100"/>
            </a:p>
          </p:txBody>
        </p:sp>
        <p:cxnSp>
          <p:nvCxnSpPr>
            <p:cNvPr name="Connector 10" id="10"/>
            <p:cNvCxnSpPr/>
            <p:nvPr/>
          </p:nvCxnSpPr>
          <p:spPr>
            <a:xfrm rot="0" flipH="false" flipV="false">
              <a:off x="6925877" y="4922360"/>
              <a:ext cx="6603973" cy="0"/>
            </a:xfrm>
            <a:prstGeom prst="straightConnector1">
              <a:avLst/>
            </a:prstGeom>
            <a:noFill/>
            <a:ln w="76200">
              <a:solidFill>
                <a:srgbClr val="FFC000">
                  <a:alpha val="100000"/>
                </a:srgbClr>
              </a:solidFill>
              <a:prstDash val="solid"/>
              <a:headEnd type="none" w="lg" len="lg"/>
              <a:tailEnd type="arrow" w="lg" len="lg"/>
            </a:ln>
          </p:spPr>
        </p:cxnSp>
        <p:sp>
          <p:nvSpPr>
            <p:cNvPr name="AutoShape 11" id="11"/>
            <p:cNvSpPr/>
            <p:nvPr/>
          </p:nvSpPr>
          <p:spPr>
            <a:xfrm rot="0" flipH="false" flipV="false">
              <a:off x="6713060" y="5009525"/>
              <a:ext cx="763825" cy="259888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127000" rIns="127000" tIns="63500" bIns="6350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BF9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1982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8707968" y="5012311"/>
              <a:ext cx="812841" cy="3939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127000" rIns="127000" tIns="63500" bIns="6350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BF9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2010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11242223" y="5012309"/>
              <a:ext cx="815807" cy="3939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127000" rIns="127000" tIns="63500" bIns="6350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BF9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2013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12548845" y="4564561"/>
              <a:ext cx="958507" cy="3939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127000" rIns="127000" tIns="63500" bIns="6350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BF9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2014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6882831" y="4846108"/>
              <a:ext cx="132505" cy="12968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8100">
              <a:solidFill>
                <a:srgbClr val="FFC0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93333"/>
                </a:lnSpc>
                <a:defRPr/>
              </a:pPr>
              <a:r>
                <a:rPr lang="en-US" b="false" i="false" strike="noStrike" u="none" sz="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</a:t>
              </a:r>
              <a:endParaRPr lang="en-US" sz="1100"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9004373" y="4863167"/>
              <a:ext cx="132505" cy="12968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38100">
              <a:solidFill>
                <a:srgbClr val="FFC0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93333"/>
                </a:lnSpc>
                <a:defRPr/>
              </a:pPr>
              <a:r>
                <a:rPr lang="en-US" b="false" i="false" strike="noStrike" u="none" sz="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9993635" y="4875932"/>
              <a:ext cx="132505" cy="129683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38100">
              <a:solidFill>
                <a:srgbClr val="FFC0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93333"/>
                </a:lnSpc>
                <a:defRPr/>
              </a:pPr>
              <a:r>
                <a:rPr lang="en-US" b="false" i="false" strike="noStrike" u="none" sz="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11340360" y="4875932"/>
              <a:ext cx="132505" cy="129683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38100">
              <a:solidFill>
                <a:srgbClr val="FFC0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93333"/>
                </a:lnSpc>
                <a:defRPr/>
              </a:pPr>
              <a:r>
                <a:rPr lang="en-US" b="false" i="false" strike="noStrike" u="none" sz="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</a:t>
              </a:r>
              <a:endParaRPr lang="en-US" sz="1100"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12916884" y="4872924"/>
              <a:ext cx="132505" cy="129683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  <a:ln w="38100">
              <a:solidFill>
                <a:srgbClr val="FFC0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93333"/>
                </a:lnSpc>
                <a:defRPr/>
              </a:pPr>
              <a:r>
                <a:rPr lang="en-US" b="false" i="false" strike="noStrike" u="none" sz="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6882831" y="3747675"/>
              <a:ext cx="2843692" cy="1009507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127000" rIns="127000" tIns="63500" bIns="6350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600">
                  <a:solidFill>
                    <a:srgbClr val="595959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1982：xxxxxx</a:t>
              </a:r>
              <a:endParaRPr lang="en-US" sz="1100"/>
            </a:p>
            <a:p>
              <a:pPr algn="l" marL="0" indent="0">
                <a:lnSpc>
                  <a:spcPct val="100000"/>
                </a:lnSpc>
              </a:pPr>
              <a:r>
                <a:rPr lang="en-US" b="false" i="false" strike="noStrike" u="none" sz="1600">
                  <a:solidFill>
                    <a:srgbClr val="595959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2005：xxxxxxxx</a:t>
              </a:r>
            </a:p>
            <a:p>
              <a:pPr algn="l" marL="0" indent="0">
                <a:lnSpc>
                  <a:spcPct val="100000"/>
                </a:lnSpc>
              </a:pPr>
              <a:r>
                <a:rPr lang="en-US" b="false" i="false" strike="noStrike" u="none" sz="1600">
                  <a:solidFill>
                    <a:srgbClr val="595959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2008：xxxxxxxxxx</a:t>
              </a:r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12688828" y="4246683"/>
              <a:ext cx="1240168" cy="27410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127000" rIns="127000" tIns="63500" bIns="6350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600">
                  <a:solidFill>
                    <a:srgbClr val="00359E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xxxxxxxx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10944497" y="4441551"/>
              <a:ext cx="1654352" cy="25960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127000" rIns="127000" tIns="63500" bIns="63500">
              <a:no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600">
                  <a:solidFill>
                    <a:srgbClr val="00359E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xxxxxxxxxx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10080197" y="4568804"/>
              <a:ext cx="774321" cy="393955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127000" rIns="127000" tIns="63500" bIns="63500">
              <a:spAutoFit/>
            </a:bodyPr>
            <a:lstStyle/>
            <a:p>
              <a:pPr algn="l" marL="0" indent="0">
                <a:lnSpc>
                  <a:spcPct val="100000"/>
                </a:lnSpc>
                <a:defRPr/>
              </a:pPr>
              <a:r>
                <a:rPr lang="en-US" b="false" i="false" strike="noStrike" u="none" sz="1400">
                  <a:solidFill>
                    <a:srgbClr val="BF9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2012</a:t>
              </a:r>
              <a:endParaRPr lang="en-US" sz="1100"/>
            </a:p>
          </p:txBody>
        </p:sp>
        <p:sp>
          <p:nvSpPr>
            <p:cNvPr name="AutoShape 24" id="24"/>
            <p:cNvSpPr/>
            <p:nvPr/>
          </p:nvSpPr>
          <p:spPr>
            <a:xfrm rot="0" flipH="false" flipV="false">
              <a:off x="9397764" y="4287672"/>
              <a:ext cx="1456755" cy="276129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127000" rIns="127000" tIns="63500" bIns="6350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600">
                  <a:solidFill>
                    <a:srgbClr val="00359E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xxxxxxxxx</a:t>
              </a:r>
              <a:endParaRPr lang="en-US" sz="1100"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8914556" y="6547131"/>
              <a:ext cx="2260287" cy="980661"/>
            </a:xfrm>
            <a:prstGeom prst="roundRect">
              <a:avLst>
                <a:gd name="adj" fmla="val 16835"/>
              </a:avLst>
            </a:prstGeom>
            <a:solidFill>
              <a:srgbClr val="FFFFFF">
                <a:alpha val="100000"/>
              </a:srgbClr>
            </a:solidFill>
            <a:ln w="12700">
              <a:solidFill>
                <a:srgbClr val="BC8C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false" i="false" strike="noStrike" u="none" sz="240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</a:t>
              </a:r>
              <a:endParaRPr lang="en-US" sz="1100"/>
            </a:p>
          </p:txBody>
        </p:sp>
        <p:pic>
          <p:nvPicPr>
            <p:cNvPr name="Picture 26" id="26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 flipH="false" flipV="false">
              <a:off x="9792729" y="5438564"/>
              <a:ext cx="574935" cy="464700"/>
            </a:xfrm>
            <a:prstGeom prst="rect">
              <a:avLst/>
            </a:prstGeom>
            <a:ln w="25400">
              <a:noFill/>
              <a:prstDash val="solid"/>
            </a:ln>
          </p:spPr>
        </p:pic>
        <p:sp>
          <p:nvSpPr>
            <p:cNvPr name="AutoShape 27" id="27"/>
            <p:cNvSpPr/>
            <p:nvPr/>
          </p:nvSpPr>
          <p:spPr>
            <a:xfrm rot="0" flipH="false" flipV="false">
              <a:off x="9101903" y="6675463"/>
              <a:ext cx="1940516" cy="38870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127000" rIns="127000" tIns="63500" bIns="63500">
              <a:spAutoFit/>
            </a:bodyPr>
            <a:lstStyle/>
            <a:p>
              <a:pPr algn="ctr" marL="0" indent="0">
                <a:lnSpc>
                  <a:spcPct val="104166"/>
                </a:lnSpc>
                <a:defRPr/>
              </a:pPr>
              <a:r>
                <a:rPr lang="en-US" b="true" i="false" strike="noStrike" u="none" sz="2600">
                  <a:solidFill>
                    <a:srgbClr val="0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xxxxx平台</a:t>
              </a:r>
              <a:endParaRPr lang="en-US" sz="1100"/>
            </a:p>
          </p:txBody>
        </p:sp>
        <p:sp>
          <p:nvSpPr>
            <p:cNvPr name="AutoShape 28" id="28"/>
            <p:cNvSpPr/>
            <p:nvPr/>
          </p:nvSpPr>
          <p:spPr>
            <a:xfrm rot="0" flipH="false" flipV="false">
              <a:off x="8991348" y="6151108"/>
              <a:ext cx="2211803" cy="418576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127000" rIns="127000" tIns="63500" bIns="6350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600">
                  <a:solidFill>
                    <a:srgbClr val="00359E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依托XXXXX市场</a:t>
              </a:r>
              <a:endParaRPr lang="en-US" sz="1100"/>
            </a:p>
          </p:txBody>
        </p:sp>
        <p:cxnSp>
          <p:nvCxnSpPr>
            <p:cNvPr name="Connector 29" id="29"/>
            <p:cNvCxnSpPr/>
            <p:nvPr/>
          </p:nvCxnSpPr>
          <p:spPr>
            <a:xfrm rot="0" flipH="false" flipV="false">
              <a:off x="11378659" y="7013672"/>
              <a:ext cx="679371" cy="0"/>
            </a:xfrm>
            <a:prstGeom prst="straightConnector1">
              <a:avLst/>
            </a:prstGeom>
            <a:noFill/>
            <a:ln w="50800">
              <a:solidFill>
                <a:srgbClr val="FFC000">
                  <a:alpha val="100000"/>
                </a:srgbClr>
              </a:solidFill>
              <a:prstDash val="solid"/>
              <a:headEnd type="none" w="lg" len="lg"/>
              <a:tailEnd type="triangle" w="lg" len="lg"/>
            </a:ln>
          </p:spPr>
        </p:cxnSp>
        <p:sp>
          <p:nvSpPr>
            <p:cNvPr name="AutoShape 30" id="30"/>
            <p:cNvSpPr/>
            <p:nvPr/>
          </p:nvSpPr>
          <p:spPr>
            <a:xfrm rot="0" flipH="false" flipV="false">
              <a:off x="11280521" y="6675463"/>
              <a:ext cx="939687" cy="68899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127000" rIns="127000" tIns="63500" bIns="6350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600">
                  <a:solidFill>
                    <a:srgbClr val="00359E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下游</a:t>
              </a:r>
              <a:endParaRPr lang="en-US" sz="1100"/>
            </a:p>
            <a:p>
              <a:pPr algn="ctr" marL="0" indent="0">
                <a:lnSpc>
                  <a:spcPct val="100000"/>
                </a:lnSpc>
              </a:pPr>
              <a:r>
                <a:rPr lang="en-US" b="false" i="false" strike="noStrike" u="none" sz="1600">
                  <a:solidFill>
                    <a:srgbClr val="00359E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拓展</a:t>
              </a:r>
            </a:p>
          </p:txBody>
        </p:sp>
        <p:cxnSp>
          <p:nvCxnSpPr>
            <p:cNvPr name="Connector 31" id="31"/>
            <p:cNvCxnSpPr/>
            <p:nvPr/>
          </p:nvCxnSpPr>
          <p:spPr>
            <a:xfrm rot="10800000" flipH="false" flipV="true">
              <a:off x="8215297" y="7032821"/>
              <a:ext cx="625561" cy="0"/>
            </a:xfrm>
            <a:prstGeom prst="straightConnector1">
              <a:avLst/>
            </a:prstGeom>
            <a:noFill/>
            <a:ln w="50800">
              <a:solidFill>
                <a:srgbClr val="FFC000">
                  <a:alpha val="100000"/>
                </a:srgbClr>
              </a:solidFill>
              <a:prstDash val="solid"/>
              <a:headEnd type="none" w="lg" len="lg"/>
              <a:tailEnd type="triangle" w="lg" len="lg"/>
            </a:ln>
          </p:spPr>
        </p:cxnSp>
        <p:sp>
          <p:nvSpPr>
            <p:cNvPr name="AutoShape 32" id="32"/>
            <p:cNvSpPr/>
            <p:nvPr/>
          </p:nvSpPr>
          <p:spPr>
            <a:xfrm rot="0" flipH="false" flipV="false">
              <a:off x="6964176" y="6236793"/>
              <a:ext cx="1092361" cy="553465"/>
            </a:xfrm>
            <a:prstGeom prst="roundRect">
              <a:avLst>
                <a:gd name="adj" fmla="val 16062"/>
              </a:avLst>
            </a:prstGeom>
            <a:solidFill>
              <a:srgbClr val="FFFFFF">
                <a:alpha val="100000"/>
              </a:srgbClr>
            </a:solidFill>
            <a:ln w="12700">
              <a:solidFill>
                <a:srgbClr val="BC8C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XXX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8109376" y="6668725"/>
              <a:ext cx="939687" cy="688993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t" rtlCol="false" wrap="square" lIns="127000" rIns="127000" tIns="63500" bIns="63500">
              <a:sp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600">
                  <a:solidFill>
                    <a:srgbClr val="00359E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上游</a:t>
              </a:r>
              <a:endParaRPr lang="en-US" sz="1100"/>
            </a:p>
            <a:p>
              <a:pPr algn="ctr" marL="0" indent="0">
                <a:lnSpc>
                  <a:spcPct val="100000"/>
                </a:lnSpc>
              </a:pPr>
              <a:r>
                <a:rPr lang="en-US" b="false" i="false" strike="noStrike" u="none" sz="1600">
                  <a:solidFill>
                    <a:srgbClr val="00359E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整合</a:t>
              </a:r>
            </a:p>
          </p:txBody>
        </p:sp>
        <p:sp>
          <p:nvSpPr>
            <p:cNvPr name="AutoShape 34" id="34"/>
            <p:cNvSpPr/>
            <p:nvPr/>
          </p:nvSpPr>
          <p:spPr>
            <a:xfrm rot="0" flipH="false" flipV="false">
              <a:off x="6964176" y="6864983"/>
              <a:ext cx="1092361" cy="553465"/>
            </a:xfrm>
            <a:prstGeom prst="roundRect">
              <a:avLst>
                <a:gd name="adj" fmla="val 16062"/>
              </a:avLst>
            </a:prstGeom>
            <a:solidFill>
              <a:srgbClr val="FFFFFF">
                <a:alpha val="100000"/>
              </a:srgbClr>
            </a:solidFill>
            <a:ln w="12700">
              <a:solidFill>
                <a:srgbClr val="BC8C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XXX</a:t>
              </a:r>
              <a:endParaRPr lang="en-US" sz="1100"/>
            </a:p>
          </p:txBody>
        </p:sp>
        <p:sp>
          <p:nvSpPr>
            <p:cNvPr name="AutoShape 35" id="35"/>
            <p:cNvSpPr/>
            <p:nvPr/>
          </p:nvSpPr>
          <p:spPr>
            <a:xfrm rot="0" flipH="false" flipV="false">
              <a:off x="6964176" y="7493171"/>
              <a:ext cx="1092361" cy="553465"/>
            </a:xfrm>
            <a:prstGeom prst="roundRect">
              <a:avLst>
                <a:gd name="adj" fmla="val 16062"/>
              </a:avLst>
            </a:prstGeom>
            <a:solidFill>
              <a:srgbClr val="FFFFFF">
                <a:alpha val="100000"/>
              </a:srgbClr>
            </a:solidFill>
            <a:ln w="12700">
              <a:solidFill>
                <a:srgbClr val="BC8C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….</a:t>
              </a:r>
              <a:endParaRPr lang="en-US" sz="1100"/>
            </a:p>
          </p:txBody>
        </p:sp>
        <p:sp>
          <p:nvSpPr>
            <p:cNvPr name="AutoShape 36" id="36"/>
            <p:cNvSpPr/>
            <p:nvPr/>
          </p:nvSpPr>
          <p:spPr>
            <a:xfrm rot="0" flipH="false" flipV="false">
              <a:off x="12239911" y="6193047"/>
              <a:ext cx="1092361" cy="553465"/>
            </a:xfrm>
            <a:prstGeom prst="roundRect">
              <a:avLst>
                <a:gd name="adj" fmla="val 16062"/>
              </a:avLst>
            </a:prstGeom>
            <a:solidFill>
              <a:srgbClr val="FFFFFF">
                <a:alpha val="100000"/>
              </a:srgbClr>
            </a:solidFill>
            <a:ln w="12700">
              <a:solidFill>
                <a:srgbClr val="BC8C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XXX</a:t>
              </a:r>
              <a:endParaRPr lang="en-US" sz="1100"/>
            </a:p>
          </p:txBody>
        </p:sp>
        <p:sp>
          <p:nvSpPr>
            <p:cNvPr name="AutoShape 37" id="37"/>
            <p:cNvSpPr/>
            <p:nvPr/>
          </p:nvSpPr>
          <p:spPr>
            <a:xfrm rot="0" flipH="false" flipV="false">
              <a:off x="12239911" y="6821235"/>
              <a:ext cx="1092361" cy="553465"/>
            </a:xfrm>
            <a:prstGeom prst="roundRect">
              <a:avLst>
                <a:gd name="adj" fmla="val 16062"/>
              </a:avLst>
            </a:prstGeom>
            <a:solidFill>
              <a:srgbClr val="FFFFFF">
                <a:alpha val="100000"/>
              </a:srgbClr>
            </a:solidFill>
            <a:ln w="12700">
              <a:solidFill>
                <a:srgbClr val="BC8C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XXX</a:t>
              </a:r>
              <a:endParaRPr lang="en-US" sz="1100"/>
            </a:p>
          </p:txBody>
        </p:sp>
        <p:sp>
          <p:nvSpPr>
            <p:cNvPr name="AutoShape 38" id="38"/>
            <p:cNvSpPr/>
            <p:nvPr/>
          </p:nvSpPr>
          <p:spPr>
            <a:xfrm rot="0" flipH="false" flipV="false">
              <a:off x="12227699" y="7476497"/>
              <a:ext cx="1092361" cy="553465"/>
            </a:xfrm>
            <a:prstGeom prst="roundRect">
              <a:avLst>
                <a:gd name="adj" fmla="val 16062"/>
              </a:avLst>
            </a:prstGeom>
            <a:solidFill>
              <a:srgbClr val="FFFFFF">
                <a:alpha val="100000"/>
              </a:srgbClr>
            </a:solidFill>
            <a:ln w="12700">
              <a:solidFill>
                <a:srgbClr val="BC8C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…</a:t>
              </a:r>
              <a:endParaRPr lang="en-US" sz="1100"/>
            </a:p>
          </p:txBody>
        </p:sp>
      </p:grpSp>
      <p:sp>
        <p:nvSpPr>
          <p:cNvPr name="AutoShape 39" id="39"/>
          <p:cNvSpPr/>
          <p:nvPr/>
        </p:nvSpPr>
        <p:spPr>
          <a:xfrm rot="-1432647" flipH="false" flipV="false">
            <a:off x="12126707" y="3458571"/>
            <a:ext cx="1746029" cy="642129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sp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210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描述示例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r">
              <a:lnSpc>
                <a:spcPct val="83333"/>
              </a:lnSpc>
              <a:defRPr sz="1300" b="false" i="false" u="none" strike="noStrike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algn="r"/>
            <a:endParaRPr/>
          </a:p>
        </p:txBody>
      </p:sp>
      <p:sp>
        <p:nvSpPr>
          <p:cNvPr name="AutoShape 3" id="3"/>
          <p:cNvSpPr/>
          <p:nvPr>
            <p:ph idx="15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l">
              <a:lnSpc>
                <a:spcPct val="75000"/>
              </a:lnSpc>
              <a:defRPr sz="2600" b="tru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37189" y="1586695"/>
            <a:ext cx="1681391" cy="6640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投资亮点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团队介绍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true" i="false" strike="noStrike" u="none" sz="24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市场概况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痛点分析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商业模式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竞争格局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运营现状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未来规划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融资计划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1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832847" y="1510352"/>
            <a:ext cx="12550000" cy="69148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noAutofit/>
          </a:bodyPr>
          <a:lstStyle/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目的：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通过市场规模或行业集中度的描述，让投资人对项目所处行业有清晰的认识；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内容：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利用数据，描述项目所在行业的用户规模、经济规模及行业集中度（CR4\CR5\CR8） 等情况；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建议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：市场规模直接决定项目未来的成长性，是投资人关注的重点，建议给出准确数据，行业集中度如无相关数据，可考虑不描述。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sz="24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>
            <a:off x="7057795" y="3690318"/>
            <a:ext cx="6895638" cy="4776708"/>
            <a:chOff x="7057795" y="3690318"/>
            <a:chExt cx="6895638" cy="4776708"/>
          </a:xfrm>
        </p:grpSpPr>
        <p:cxnSp>
          <p:nvCxnSpPr>
            <p:cNvPr name="Connector 7" id="7"/>
            <p:cNvCxnSpPr/>
            <p:nvPr/>
          </p:nvCxnSpPr>
          <p:spPr>
            <a:xfrm rot="0" flipH="false" flipV="false">
              <a:off x="7057795" y="4381389"/>
              <a:ext cx="1" cy="4085637"/>
            </a:xfrm>
            <a:prstGeom prst="straightConnector1">
              <a:avLst/>
            </a:prstGeom>
            <a:noFill/>
            <a:ln w="12700">
              <a:solidFill>
                <a:srgbClr val="FFC000">
                  <a:alpha val="100000"/>
                </a:srgbClr>
              </a:solidFill>
              <a:prstDash val="dot"/>
              <a:headEnd type="none" w="med" len="med"/>
              <a:tailEnd type="none" w="med" len="med"/>
            </a:ln>
          </p:spPr>
        </p:cxnSp>
        <p:cxnSp>
          <p:nvCxnSpPr>
            <p:cNvPr name="Connector 8" id="8"/>
            <p:cNvCxnSpPr/>
            <p:nvPr/>
          </p:nvCxnSpPr>
          <p:spPr>
            <a:xfrm rot="0" flipH="false" flipV="false">
              <a:off x="10134041" y="4375888"/>
              <a:ext cx="1" cy="4085637"/>
            </a:xfrm>
            <a:prstGeom prst="straightConnector1">
              <a:avLst/>
            </a:prstGeom>
            <a:noFill/>
            <a:ln w="12700">
              <a:solidFill>
                <a:srgbClr val="FFC000">
                  <a:alpha val="100000"/>
                </a:srgbClr>
              </a:solidFill>
              <a:prstDash val="dot"/>
              <a:headEnd type="none" w="med" len="med"/>
              <a:tailEnd type="none" w="med" len="med"/>
            </a:ln>
          </p:spPr>
        </p:cxnSp>
        <p:sp>
          <p:nvSpPr>
            <p:cNvPr name="AutoShape 9" id="9"/>
            <p:cNvSpPr/>
            <p:nvPr/>
          </p:nvSpPr>
          <p:spPr>
            <a:xfrm rot="-1432647" flipH="false" flipV="false">
              <a:off x="9045420" y="4004387"/>
              <a:ext cx="1680409" cy="608285"/>
            </a:xfrm>
            <a:prstGeom prst="rect">
              <a:avLst/>
            </a:prstGeom>
            <a:noFill/>
            <a:ln w="12700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sp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false" i="false" strike="noStrike" u="none" sz="2100">
                  <a:solidFill>
                    <a:srgbClr val="C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描述示例</a:t>
              </a:r>
              <a:endParaRPr lang="en-US" sz="1100"/>
            </a:p>
          </p:txBody>
        </p:sp>
        <p:grpSp>
          <p:nvGrpSpPr>
            <p:cNvPr name="Group 10" id="10"/>
            <p:cNvGrpSpPr/>
            <p:nvPr/>
          </p:nvGrpSpPr>
          <p:grpSpPr>
            <a:xfrm>
              <a:off x="10846616" y="7229963"/>
              <a:ext cx="3106817" cy="540408"/>
              <a:chOff x="10846616" y="7229963"/>
              <a:chExt cx="3106817" cy="540408"/>
            </a:xfrm>
          </p:grpSpPr>
          <p:sp>
            <p:nvSpPr>
              <p:cNvPr name="AutoShape 11" id="11"/>
              <p:cNvSpPr/>
              <p:nvPr/>
            </p:nvSpPr>
            <p:spPr>
              <a:xfrm rot="0" flipH="false" flipV="false">
                <a:off x="12895651" y="7229963"/>
                <a:ext cx="70052" cy="57745"/>
              </a:xfrm>
              <a:prstGeom prst="rect">
                <a:avLst/>
              </a:prstGeom>
              <a:solidFill>
                <a:srgbClr val="FFC000">
                  <a:alpha val="100000"/>
                </a:srgbClr>
              </a:solidFill>
              <a:ln w="12700">
                <a:solidFill>
                  <a:srgbClr val="BC8C00">
                    <a:alpha val="100000"/>
                  </a:srgbClr>
                </a:solidFill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false" i="false" strike="noStrike" u="none" sz="2400">
                    <a:solidFill>
                      <a:srgbClr val="7F7F7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  <a:endParaRPr lang="en-US" sz="1100"/>
              </a:p>
            </p:txBody>
          </p:sp>
          <p:cxnSp>
            <p:nvCxnSpPr>
              <p:cNvPr name="Connector 12" id="12"/>
              <p:cNvCxnSpPr/>
              <p:nvPr/>
            </p:nvCxnSpPr>
            <p:spPr>
              <a:xfrm rot="0" flipH="false" flipV="false">
                <a:off x="10846616" y="7770371"/>
                <a:ext cx="3106817" cy="0"/>
              </a:xfrm>
              <a:prstGeom prst="straightConnector1">
                <a:avLst/>
              </a:prstGeom>
              <a:noFill/>
              <a:ln w="12700">
                <a:solidFill>
                  <a:srgbClr val="80808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r">
              <a:lnSpc>
                <a:spcPct val="83333"/>
              </a:lnSpc>
              <a:defRPr sz="1300" b="false" i="false" u="none" strike="noStrike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algn="r"/>
            <a:endParaRPr/>
          </a:p>
        </p:txBody>
      </p:sp>
      <p:sp>
        <p:nvSpPr>
          <p:cNvPr name="AutoShape 3" id="3"/>
          <p:cNvSpPr/>
          <p:nvPr>
            <p:ph idx="15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l">
              <a:lnSpc>
                <a:spcPct val="75000"/>
              </a:lnSpc>
              <a:defRPr sz="2600" b="tru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37189" y="1586695"/>
            <a:ext cx="1681391" cy="6640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投资亮点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团队介绍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市场概况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true" i="false" strike="noStrike" u="none" sz="24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痛点分析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商业模式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竞争格局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运营现状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未来规划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融资计划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1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832847" y="1544696"/>
            <a:ext cx="12550000" cy="69148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noAutofit/>
          </a:bodyPr>
          <a:lstStyle/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目的：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让投资人了解行业存在的哪些问题/痛点，如何通过项目有效解决；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内容：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主要是描述所处行业存在的痛点；如若项目满足的是用户某些方面的需求，可以将标题更改为</a:t>
            </a: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【用户需求】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，在内容上描述用户需求场景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建议：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需明确，该部分是为引出下一章节商业模式而所设置的；其逻辑类似于行业存在哪些痛点或用户存在哪些需求，紧接着在【商业模式】中描绘我们项目如何解决痛点或需求；因此，需注意与下一章节的呼应</a:t>
            </a:r>
            <a:r>
              <a:rPr lang="en-US" b="false" i="false" strike="noStrike" u="none" sz="21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>
            <a:off x="4591052" y="4572000"/>
            <a:ext cx="8686791" cy="3091019"/>
            <a:chOff x="4591052" y="4572000"/>
            <a:chExt cx="8686791" cy="3091019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4591052" y="4795985"/>
              <a:ext cx="1318517" cy="91628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4898861" y="6708657"/>
              <a:ext cx="803001" cy="574699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0" r="0" t="0" b="0"/>
            <a:stretch>
              <a:fillRect/>
            </a:stretch>
          </p:blipFill>
          <p:spPr>
            <a:xfrm rot="0" flipH="false" flipV="false">
              <a:off x="8879560" y="4572000"/>
              <a:ext cx="1512663" cy="12726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5"/>
            <a:srcRect l="0" r="0" t="0" b="0"/>
            <a:stretch>
              <a:fillRect/>
            </a:stretch>
          </p:blipFill>
          <p:spPr>
            <a:xfrm rot="0" flipH="false" flipV="false">
              <a:off x="9232457" y="6664728"/>
              <a:ext cx="880684" cy="906900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name="AutoShape 11" id="11"/>
            <p:cNvSpPr/>
            <p:nvPr/>
          </p:nvSpPr>
          <p:spPr>
            <a:xfrm rot="0" flipH="false" flipV="false">
              <a:off x="6286708" y="4670711"/>
              <a:ext cx="2670260" cy="1169215"/>
            </a:xfrm>
            <a:prstGeom prst="rect">
              <a:avLst/>
            </a:prstGeom>
            <a:noFill/>
            <a:ln w="12700">
              <a:solidFill>
                <a:srgbClr val="FFC000">
                  <a:alpha val="100000"/>
                </a:srgbClr>
              </a:solidFill>
              <a:prstDash val="dash"/>
            </a:ln>
          </p:spPr>
          <p:txBody>
            <a:bodyPr anchor="t" rtlCol="false" wrap="square" lIns="127000" rIns="127000" tIns="63500" bIns="63500">
              <a:noAutofit/>
            </a:bodyPr>
            <a:lstStyle/>
            <a:p>
              <a:pPr algn="l" indent="-203200" marL="203200">
                <a:lnSpc>
                  <a:spcPct val="83333"/>
                </a:lnSpc>
                <a:buClr>
                  <a:srgbClr val="404040"/>
                </a:buClr>
                <a:buChar char="•"/>
                <a:defRPr/>
              </a:pPr>
              <a:r>
                <a:rPr lang="en-US" b="false" i="false" strike="noStrike" u="none"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信息不对称</a:t>
              </a:r>
              <a:endParaRPr lang="en-US" sz="1100"/>
            </a:p>
            <a:p>
              <a:pPr algn="l" indent="-203200" marL="203200">
                <a:lnSpc>
                  <a:spcPct val="83333"/>
                </a:lnSpc>
                <a:buClr>
                  <a:srgbClr val="404040"/>
                </a:buClr>
                <a:buChar char="•"/>
              </a:pPr>
              <a:r>
                <a:rPr lang="en-US" b="false" i="false" strike="noStrike" u="none"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交易成本高</a:t>
              </a:r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5881245" y="4863183"/>
              <a:ext cx="461021" cy="804244"/>
            </a:xfrm>
            <a:prstGeom prst="roundRect">
              <a:avLst>
                <a:gd name="adj" fmla="val 16528"/>
              </a:avLst>
            </a:prstGeom>
            <a:solidFill>
              <a:srgbClr val="FFC000">
                <a:alpha val="100000"/>
              </a:srgbClr>
            </a:solidFill>
            <a:ln w="12700">
              <a:solidFill>
                <a:srgbClr val="FFC0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true" i="false" strike="noStrike" u="none" sz="180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痛点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10607584" y="4613359"/>
              <a:ext cx="2670259" cy="1169215"/>
            </a:xfrm>
            <a:prstGeom prst="rect">
              <a:avLst/>
            </a:prstGeom>
            <a:noFill/>
            <a:ln w="12700">
              <a:solidFill>
                <a:srgbClr val="FFC000">
                  <a:alpha val="100000"/>
                </a:srgbClr>
              </a:solidFill>
              <a:prstDash val="dash"/>
            </a:ln>
          </p:spPr>
          <p:txBody>
            <a:bodyPr anchor="t" rtlCol="false" wrap="square" lIns="127000" rIns="127000" tIns="63500" bIns="63500">
              <a:noAutofit/>
            </a:bodyPr>
            <a:lstStyle/>
            <a:p>
              <a:pPr algn="l" indent="-203200" marL="203200">
                <a:lnSpc>
                  <a:spcPct val="83333"/>
                </a:lnSpc>
                <a:buClr>
                  <a:srgbClr val="404040"/>
                </a:buClr>
                <a:buChar char="•"/>
                <a:defRPr/>
              </a:pPr>
              <a:r>
                <a:rPr lang="en-US" b="false" i="false" strike="noStrike" u="none"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XXX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10202121" y="4805831"/>
              <a:ext cx="461020" cy="804244"/>
            </a:xfrm>
            <a:prstGeom prst="roundRect">
              <a:avLst>
                <a:gd name="adj" fmla="val 16528"/>
              </a:avLst>
            </a:prstGeom>
            <a:solidFill>
              <a:srgbClr val="FFC000">
                <a:alpha val="100000"/>
              </a:srgbClr>
            </a:solidFill>
            <a:ln w="12700">
              <a:solidFill>
                <a:srgbClr val="FFC0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true" i="false" strike="noStrike" u="none" sz="180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痛点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6342265" y="6463259"/>
              <a:ext cx="2670260" cy="1169215"/>
            </a:xfrm>
            <a:prstGeom prst="rect">
              <a:avLst/>
            </a:prstGeom>
            <a:noFill/>
            <a:ln w="12700">
              <a:solidFill>
                <a:srgbClr val="FFC000">
                  <a:alpha val="100000"/>
                </a:srgbClr>
              </a:solidFill>
              <a:prstDash val="dash"/>
            </a:ln>
          </p:spPr>
          <p:txBody>
            <a:bodyPr anchor="t" rtlCol="false" wrap="square" lIns="127000" rIns="127000" tIns="63500" bIns="63500">
              <a:noAutofit/>
            </a:bodyPr>
            <a:lstStyle/>
            <a:p>
              <a:pPr algn="l" indent="-203200" marL="203200">
                <a:lnSpc>
                  <a:spcPct val="83333"/>
                </a:lnSpc>
                <a:buClr>
                  <a:srgbClr val="404040"/>
                </a:buClr>
                <a:buChar char="•"/>
                <a:defRPr/>
              </a:pPr>
              <a:r>
                <a:rPr lang="en-US" b="false" i="false" strike="noStrike" u="none"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资源浪费</a:t>
              </a:r>
              <a:endParaRPr lang="en-US" sz="1100"/>
            </a:p>
            <a:p>
              <a:pPr algn="l" indent="-203200" marL="203200">
                <a:lnSpc>
                  <a:spcPct val="83333"/>
                </a:lnSpc>
                <a:buClr>
                  <a:srgbClr val="404040"/>
                </a:buClr>
                <a:buChar char="•"/>
              </a:pPr>
              <a:r>
                <a:rPr lang="en-US" b="false" i="false" strike="noStrike" u="none"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XXX</a:t>
              </a:r>
            </a:p>
            <a:p>
              <a:pPr algn="l" marL="0" indent="0">
                <a:lnSpc>
                  <a:spcPct val="83333"/>
                </a:lnSpc>
              </a:pPr>
              <a:r>
                <a:rPr lang="en-US" b="false" i="false" strike="noStrike" u="none" sz="240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</a:t>
              </a:r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5936803" y="6655732"/>
              <a:ext cx="461021" cy="804244"/>
            </a:xfrm>
            <a:prstGeom prst="roundRect">
              <a:avLst>
                <a:gd name="adj" fmla="val 16528"/>
              </a:avLst>
            </a:prstGeom>
            <a:solidFill>
              <a:srgbClr val="FFC000">
                <a:alpha val="100000"/>
              </a:srgbClr>
            </a:solidFill>
            <a:ln w="12700">
              <a:solidFill>
                <a:srgbClr val="FFC0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true" i="false" strike="noStrike" u="none" sz="180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痛点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10607584" y="6493804"/>
              <a:ext cx="2670259" cy="1169215"/>
            </a:xfrm>
            <a:prstGeom prst="rect">
              <a:avLst/>
            </a:prstGeom>
            <a:noFill/>
            <a:ln w="12700">
              <a:solidFill>
                <a:srgbClr val="FFC000">
                  <a:alpha val="100000"/>
                </a:srgbClr>
              </a:solidFill>
              <a:prstDash val="dash"/>
            </a:ln>
          </p:spPr>
          <p:txBody>
            <a:bodyPr anchor="t" rtlCol="false" wrap="square" lIns="127000" rIns="127000" tIns="63500" bIns="63500">
              <a:noAutofit/>
            </a:bodyPr>
            <a:lstStyle/>
            <a:p>
              <a:pPr algn="l" indent="-203200" marL="203200">
                <a:lnSpc>
                  <a:spcPct val="83333"/>
                </a:lnSpc>
                <a:buClr>
                  <a:srgbClr val="404040"/>
                </a:buClr>
                <a:buChar char="•"/>
                <a:defRPr/>
              </a:pPr>
              <a:r>
                <a:rPr lang="en-US" b="false" i="false" strike="noStrike" u="none" sz="1600">
                  <a:solidFill>
                    <a:srgbClr val="40404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XXX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10202121" y="6686276"/>
              <a:ext cx="461020" cy="804244"/>
            </a:xfrm>
            <a:prstGeom prst="roundRect">
              <a:avLst>
                <a:gd name="adj" fmla="val 16528"/>
              </a:avLst>
            </a:prstGeom>
            <a:solidFill>
              <a:srgbClr val="FFC000">
                <a:alpha val="100000"/>
              </a:srgbClr>
            </a:solidFill>
            <a:ln w="12700">
              <a:solidFill>
                <a:srgbClr val="FFC0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true" i="false" strike="noStrike" u="none" sz="180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痛点</a:t>
              </a:r>
              <a:endParaRPr lang="en-US" sz="1100"/>
            </a:p>
          </p:txBody>
        </p:sp>
      </p:grpSp>
      <p:sp>
        <p:nvSpPr>
          <p:cNvPr name="AutoShape 19" id="19"/>
          <p:cNvSpPr/>
          <p:nvPr/>
        </p:nvSpPr>
        <p:spPr>
          <a:xfrm rot="0" flipH="false" flipV="false">
            <a:off x="4210051" y="4000500"/>
            <a:ext cx="10115549" cy="4267200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no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24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-1432647" flipH="false" flipV="false">
            <a:off x="12729431" y="3757108"/>
            <a:ext cx="1680409" cy="608285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sp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210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描述示例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686300" y="4267200"/>
            <a:ext cx="9163051" cy="3676651"/>
          </a:xfrm>
          <a:prstGeom prst="roundRect">
            <a:avLst>
              <a:gd name="adj" fmla="val 16580"/>
            </a:avLst>
          </a:prstGeom>
          <a:noFill/>
          <a:ln w="12700">
            <a:solidFill>
              <a:srgbClr val="BC8C00">
                <a:alpha val="100000"/>
              </a:srgbClr>
            </a:solidFill>
            <a:prstDash val="dash"/>
          </a:ln>
        </p:spPr>
        <p:txBody>
          <a:bodyPr anchor="ctr" rtlCol="false" wrap="square" lIns="127000" rIns="127000" tIns="63500" bIns="63500">
            <a:no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24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r">
              <a:lnSpc>
                <a:spcPct val="83333"/>
              </a:lnSpc>
              <a:defRPr sz="1300" b="false" i="false" u="none" strike="noStrike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algn="r"/>
            <a:endParaRPr/>
          </a:p>
        </p:txBody>
      </p:sp>
      <p:sp>
        <p:nvSpPr>
          <p:cNvPr name="AutoShape 3" id="3"/>
          <p:cNvSpPr/>
          <p:nvPr>
            <p:ph idx="15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l">
              <a:lnSpc>
                <a:spcPct val="75000"/>
              </a:lnSpc>
              <a:defRPr sz="2600" b="tru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37189" y="1586695"/>
            <a:ext cx="1681391" cy="6640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投资亮点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团队介绍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市场概况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痛点分析</a:t>
            </a:r>
          </a:p>
          <a:p>
            <a:pPr algn="l" marL="0" indent="0">
              <a:lnSpc>
                <a:spcPct val="104166"/>
              </a:lnSpc>
            </a:pPr>
            <a:r>
              <a:rPr lang="en-US" b="true" i="false" strike="noStrike" u="none" sz="24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商业模式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竞争格局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运营现状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未来规划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融资计划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1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832847" y="1510352"/>
            <a:ext cx="12550000" cy="69148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noAutofit/>
          </a:bodyPr>
          <a:lstStyle/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目的：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介绍项目的业务模式；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内容：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描述项目通过什么产品、采用什么模式等来解决行业存在痛点或用户需求；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建议一：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尽量从用户的视角出发；可以考虑描述项目业务的策略（例如渠道、营销、用户拓展、服务等方面的策略），以增强投资人认可度；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建议二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：该部分可以根据实际需求，描述1-2张，原则上不超过2张。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  <p:grpSp>
        <p:nvGrpSpPr>
          <p:cNvPr name="Group 6" id="6"/>
          <p:cNvGrpSpPr/>
          <p:nvPr/>
        </p:nvGrpSpPr>
        <p:grpSpPr>
          <a:xfrm>
            <a:off x="4312689" y="4016597"/>
            <a:ext cx="9854745" cy="4374170"/>
            <a:chOff x="4312689" y="4016597"/>
            <a:chExt cx="9854745" cy="4374170"/>
          </a:xfrm>
        </p:grpSpPr>
        <p:sp>
          <p:nvSpPr>
            <p:cNvPr name="AutoShape 7" id="7"/>
            <p:cNvSpPr/>
            <p:nvPr/>
          </p:nvSpPr>
          <p:spPr>
            <a:xfrm rot="0" flipH="false" flipV="false">
              <a:off x="4312689" y="4016599"/>
              <a:ext cx="9530509" cy="437416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no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false" i="false" strike="noStrike" u="none" sz="2400">
                  <a:solidFill>
                    <a:srgbClr val="7F7F7F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 </a:t>
              </a:r>
              <a:endParaRPr lang="en-US" sz="1100"/>
            </a:p>
          </p:txBody>
        </p:sp>
        <p:grpSp>
          <p:nvGrpSpPr>
            <p:cNvPr name="Group 8" id="8"/>
            <p:cNvGrpSpPr/>
            <p:nvPr/>
          </p:nvGrpSpPr>
          <p:grpSpPr>
            <a:xfrm>
              <a:off x="4503340" y="4016597"/>
              <a:ext cx="9664094" cy="4342517"/>
              <a:chOff x="4503340" y="4016597"/>
              <a:chExt cx="9664094" cy="4342517"/>
            </a:xfrm>
          </p:grpSpPr>
          <p:grpSp>
            <p:nvGrpSpPr>
              <p:cNvPr name="Group 9" id="9"/>
              <p:cNvGrpSpPr/>
              <p:nvPr/>
            </p:nvGrpSpPr>
            <p:grpSpPr>
              <a:xfrm>
                <a:off x="4549104" y="4526504"/>
                <a:ext cx="2047707" cy="1942352"/>
                <a:chOff x="4549104" y="4526504"/>
                <a:chExt cx="2047707" cy="1942352"/>
              </a:xfrm>
            </p:grpSpPr>
            <p:sp>
              <p:nvSpPr>
                <p:cNvPr name="AutoShape 10" id="10"/>
                <p:cNvSpPr/>
                <p:nvPr/>
              </p:nvSpPr>
              <p:spPr>
                <a:xfrm rot="0" flipH="false" flipV="false">
                  <a:off x="4549104" y="4535016"/>
                  <a:ext cx="966173" cy="562331"/>
                </a:xfrm>
                <a:prstGeom prst="roundRect">
                  <a:avLst>
                    <a:gd name="adj" fmla="val 15809"/>
                  </a:avLst>
                </a:prstGeom>
                <a:solidFill>
                  <a:srgbClr val="FFFFFF">
                    <a:alpha val="100000"/>
                  </a:srgbClr>
                </a:solidFill>
                <a:ln w="12700">
                  <a:solidFill>
                    <a:srgbClr val="BC8C00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100000"/>
                    </a:lnSpc>
                    <a:defRPr/>
                  </a:pPr>
                  <a:r>
                    <a:rPr lang="en-US" b="false" i="false" strike="noStrike" u="none" sz="1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XXXX</a:t>
                  </a:r>
                  <a:endParaRPr lang="en-US" sz="1100"/>
                </a:p>
              </p:txBody>
            </p:sp>
            <p:sp>
              <p:nvSpPr>
                <p:cNvPr name="AutoShape 11" id="11"/>
                <p:cNvSpPr/>
                <p:nvPr/>
              </p:nvSpPr>
              <p:spPr>
                <a:xfrm rot="0" flipH="false" flipV="false">
                  <a:off x="5615037" y="4526504"/>
                  <a:ext cx="966173" cy="562331"/>
                </a:xfrm>
                <a:prstGeom prst="roundRect">
                  <a:avLst>
                    <a:gd name="adj" fmla="val 15809"/>
                  </a:avLst>
                </a:prstGeom>
                <a:solidFill>
                  <a:srgbClr val="FFFFFF">
                    <a:alpha val="100000"/>
                  </a:srgbClr>
                </a:solidFill>
                <a:ln w="12700">
                  <a:solidFill>
                    <a:srgbClr val="BC8C00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100000"/>
                    </a:lnSpc>
                    <a:defRPr/>
                  </a:pPr>
                  <a:r>
                    <a:rPr lang="en-US" b="false" i="false" strike="noStrike" u="none" sz="1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XXXXX</a:t>
                  </a:r>
                  <a:endParaRPr lang="en-US" sz="1100"/>
                </a:p>
              </p:txBody>
            </p:sp>
            <p:sp>
              <p:nvSpPr>
                <p:cNvPr name="AutoShape 12" id="12"/>
                <p:cNvSpPr/>
                <p:nvPr/>
              </p:nvSpPr>
              <p:spPr>
                <a:xfrm rot="0" flipH="false" flipV="false">
                  <a:off x="4549104" y="5221553"/>
                  <a:ext cx="966173" cy="562331"/>
                </a:xfrm>
                <a:prstGeom prst="roundRect">
                  <a:avLst>
                    <a:gd name="adj" fmla="val 15809"/>
                  </a:avLst>
                </a:prstGeom>
                <a:solidFill>
                  <a:srgbClr val="FFFFFF">
                    <a:alpha val="100000"/>
                  </a:srgbClr>
                </a:solidFill>
                <a:ln w="12700">
                  <a:solidFill>
                    <a:srgbClr val="BC8C00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100000"/>
                    </a:lnSpc>
                    <a:defRPr/>
                  </a:pPr>
                  <a:r>
                    <a:rPr lang="en-US" b="false" i="false" strike="noStrike" u="none" sz="1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XXXX</a:t>
                  </a:r>
                  <a:endParaRPr lang="en-US" sz="1100"/>
                </a:p>
              </p:txBody>
            </p:sp>
            <p:sp>
              <p:nvSpPr>
                <p:cNvPr name="AutoShape 13" id="13"/>
                <p:cNvSpPr/>
                <p:nvPr/>
              </p:nvSpPr>
              <p:spPr>
                <a:xfrm rot="0" flipH="false" flipV="false">
                  <a:off x="5615037" y="5221553"/>
                  <a:ext cx="966173" cy="562331"/>
                </a:xfrm>
                <a:prstGeom prst="roundRect">
                  <a:avLst>
                    <a:gd name="adj" fmla="val 15809"/>
                  </a:avLst>
                </a:prstGeom>
                <a:solidFill>
                  <a:srgbClr val="FFFFFF">
                    <a:alpha val="100000"/>
                  </a:srgbClr>
                </a:solidFill>
                <a:ln w="12700">
                  <a:solidFill>
                    <a:srgbClr val="BC8C00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100000"/>
                    </a:lnSpc>
                    <a:defRPr/>
                  </a:pPr>
                  <a:r>
                    <a:rPr lang="en-US" b="false" i="false" strike="noStrike" u="none" sz="1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XXXXX</a:t>
                  </a:r>
                  <a:endParaRPr lang="en-US" sz="1100"/>
                </a:p>
              </p:txBody>
            </p:sp>
            <p:sp>
              <p:nvSpPr>
                <p:cNvPr name="AutoShape 14" id="14"/>
                <p:cNvSpPr/>
                <p:nvPr/>
              </p:nvSpPr>
              <p:spPr>
                <a:xfrm rot="0" flipH="false" flipV="false">
                  <a:off x="4558440" y="5906525"/>
                  <a:ext cx="2038371" cy="562331"/>
                </a:xfrm>
                <a:prstGeom prst="roundRect">
                  <a:avLst>
                    <a:gd name="adj" fmla="val 15809"/>
                  </a:avLst>
                </a:prstGeom>
                <a:solidFill>
                  <a:srgbClr val="FFFFFF">
                    <a:alpha val="100000"/>
                  </a:srgbClr>
                </a:solidFill>
                <a:ln w="12700">
                  <a:solidFill>
                    <a:srgbClr val="BC8C00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100000"/>
                    </a:lnSpc>
                    <a:defRPr/>
                  </a:pPr>
                  <a:r>
                    <a:rPr lang="en-US" b="false" i="false" strike="noStrike" u="none" sz="1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…</a:t>
                  </a:r>
                  <a:endParaRPr lang="en-US" sz="1100"/>
                </a:p>
              </p:txBody>
            </p:sp>
          </p:grpSp>
          <p:sp>
            <p:nvSpPr>
              <p:cNvPr name="AutoShape 15" id="15"/>
              <p:cNvSpPr/>
              <p:nvPr/>
            </p:nvSpPr>
            <p:spPr>
              <a:xfrm rot="0" flipH="false" flipV="false">
                <a:off x="6750991" y="4529459"/>
                <a:ext cx="471943" cy="1924400"/>
              </a:xfrm>
              <a:prstGeom prst="roundRect">
                <a:avLst>
                  <a:gd name="adj" fmla="val 16146"/>
                </a:avLst>
              </a:prstGeom>
              <a:solidFill>
                <a:srgbClr val="F2F2F2">
                  <a:alpha val="100000"/>
                </a:srgbClr>
              </a:solidFill>
              <a:ln w="12700">
                <a:solidFill>
                  <a:srgbClr val="BC8C00">
                    <a:alpha val="100000"/>
                  </a:srgbClr>
                </a:solidFill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100000"/>
                  </a:lnSpc>
                  <a:defRPr/>
                </a:pPr>
                <a:r>
                  <a:rPr lang="en-US" b="false" i="false" strike="noStrike" u="none" sz="1400">
                    <a:solidFill>
                      <a:srgbClr val="7F7F7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商户</a:t>
                </a:r>
                <a:endParaRPr lang="en-US" sz="1100"/>
              </a:p>
            </p:txBody>
          </p:sp>
          <p:sp>
            <p:nvSpPr>
              <p:cNvPr name="AutoShape 16" id="16"/>
              <p:cNvSpPr/>
              <p:nvPr/>
            </p:nvSpPr>
            <p:spPr>
              <a:xfrm rot="0" flipH="false" flipV="false">
                <a:off x="8065400" y="4682473"/>
                <a:ext cx="2907044" cy="898620"/>
              </a:xfrm>
              <a:prstGeom prst="roundRect">
                <a:avLst>
                  <a:gd name="adj" fmla="val 16959"/>
                </a:avLst>
              </a:prstGeom>
              <a:solidFill>
                <a:srgbClr val="FFFFFF">
                  <a:alpha val="100000"/>
                </a:srgbClr>
              </a:solidFill>
              <a:ln w="12700">
                <a:solidFill>
                  <a:srgbClr val="BC8C00">
                    <a:alpha val="100000"/>
                  </a:srgbClr>
                </a:solidFill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false" i="false" strike="noStrike" u="none" sz="2400">
                    <a:solidFill>
                      <a:srgbClr val="7F7F7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  <a:endParaRPr lang="en-US" sz="1100"/>
              </a:p>
            </p:txBody>
          </p:sp>
          <p:grpSp>
            <p:nvGrpSpPr>
              <p:cNvPr name="Group 17" id="17"/>
              <p:cNvGrpSpPr/>
              <p:nvPr/>
            </p:nvGrpSpPr>
            <p:grpSpPr>
              <a:xfrm>
                <a:off x="7927695" y="6245693"/>
                <a:ext cx="3137050" cy="1343841"/>
                <a:chOff x="7927695" y="6245693"/>
                <a:chExt cx="3137050" cy="1343841"/>
              </a:xfrm>
            </p:grpSpPr>
            <p:sp>
              <p:nvSpPr>
                <p:cNvPr name="AutoShape 18" id="18"/>
                <p:cNvSpPr/>
                <p:nvPr/>
              </p:nvSpPr>
              <p:spPr>
                <a:xfrm rot="0" flipH="false" flipV="false">
                  <a:off x="7927696" y="6718867"/>
                  <a:ext cx="1462660" cy="399303"/>
                </a:xfrm>
                <a:prstGeom prst="roundRect">
                  <a:avLst>
                    <a:gd name="adj" fmla="val 15902"/>
                  </a:avLst>
                </a:prstGeom>
                <a:solidFill>
                  <a:srgbClr val="FFFFFF">
                    <a:alpha val="100000"/>
                  </a:srgbClr>
                </a:solidFill>
                <a:ln w="12700">
                  <a:solidFill>
                    <a:srgbClr val="BC8C00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83333"/>
                    </a:lnSpc>
                    <a:defRPr/>
                  </a:pPr>
                  <a:r>
                    <a:rPr lang="en-US" b="false" i="false" strike="noStrike" u="none" sz="1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仓储物流服务</a:t>
                  </a:r>
                  <a:endParaRPr lang="en-US" sz="1100"/>
                </a:p>
              </p:txBody>
            </p:sp>
            <p:sp>
              <p:nvSpPr>
                <p:cNvPr name="AutoShape 19" id="19"/>
                <p:cNvSpPr/>
                <p:nvPr/>
              </p:nvSpPr>
              <p:spPr>
                <a:xfrm rot="0" flipH="false" flipV="false">
                  <a:off x="9579467" y="6718867"/>
                  <a:ext cx="1462660" cy="399303"/>
                </a:xfrm>
                <a:prstGeom prst="roundRect">
                  <a:avLst>
                    <a:gd name="adj" fmla="val 15902"/>
                  </a:avLst>
                </a:prstGeom>
                <a:solidFill>
                  <a:srgbClr val="FFFFFF">
                    <a:alpha val="100000"/>
                  </a:srgbClr>
                </a:solidFill>
                <a:ln w="12700">
                  <a:solidFill>
                    <a:srgbClr val="BC8C00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83333"/>
                    </a:lnSpc>
                    <a:defRPr/>
                  </a:pPr>
                  <a:r>
                    <a:rPr lang="en-US" b="false" i="false" strike="noStrike" u="none" sz="1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金融服务</a:t>
                  </a:r>
                  <a:endParaRPr lang="en-US" sz="1100"/>
                </a:p>
              </p:txBody>
            </p:sp>
            <p:sp>
              <p:nvSpPr>
                <p:cNvPr name="AutoShape 20" id="20"/>
                <p:cNvSpPr/>
                <p:nvPr/>
              </p:nvSpPr>
              <p:spPr>
                <a:xfrm rot="0" flipH="false" flipV="false">
                  <a:off x="7927696" y="7188195"/>
                  <a:ext cx="1462660" cy="399303"/>
                </a:xfrm>
                <a:prstGeom prst="roundRect">
                  <a:avLst>
                    <a:gd name="adj" fmla="val 15902"/>
                  </a:avLst>
                </a:prstGeom>
                <a:solidFill>
                  <a:srgbClr val="FFFFFF">
                    <a:alpha val="100000"/>
                  </a:srgbClr>
                </a:solidFill>
                <a:ln w="12700">
                  <a:solidFill>
                    <a:srgbClr val="BC8C00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83333"/>
                    </a:lnSpc>
                    <a:defRPr/>
                  </a:pPr>
                  <a:r>
                    <a:rPr lang="en-US" b="false" i="false" strike="noStrike" u="none" sz="1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大数据服务</a:t>
                  </a:r>
                  <a:endParaRPr lang="en-US" sz="1100"/>
                </a:p>
              </p:txBody>
            </p:sp>
            <p:sp>
              <p:nvSpPr>
                <p:cNvPr name="AutoShape 21" id="21"/>
                <p:cNvSpPr/>
                <p:nvPr/>
              </p:nvSpPr>
              <p:spPr>
                <a:xfrm rot="0" flipH="false" flipV="false">
                  <a:off x="9602085" y="7190231"/>
                  <a:ext cx="1462660" cy="399303"/>
                </a:xfrm>
                <a:prstGeom prst="roundRect">
                  <a:avLst>
                    <a:gd name="adj" fmla="val 15902"/>
                  </a:avLst>
                </a:prstGeom>
                <a:solidFill>
                  <a:srgbClr val="FFFFFF">
                    <a:alpha val="100000"/>
                  </a:srgbClr>
                </a:solidFill>
                <a:ln w="12700">
                  <a:solidFill>
                    <a:srgbClr val="BC8C00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83333"/>
                    </a:lnSpc>
                    <a:defRPr/>
                  </a:pPr>
                  <a:r>
                    <a:rPr lang="en-US" b="false" i="false" strike="noStrike" u="none" sz="1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O2O服务</a:t>
                  </a:r>
                  <a:endParaRPr lang="en-US" sz="1100"/>
                </a:p>
              </p:txBody>
            </p:sp>
            <p:sp>
              <p:nvSpPr>
                <p:cNvPr name="AutoShape 22" id="22"/>
                <p:cNvSpPr/>
                <p:nvPr/>
              </p:nvSpPr>
              <p:spPr>
                <a:xfrm rot="0" flipH="false" flipV="false">
                  <a:off x="7927695" y="6245693"/>
                  <a:ext cx="1462660" cy="399303"/>
                </a:xfrm>
                <a:prstGeom prst="roundRect">
                  <a:avLst>
                    <a:gd name="adj" fmla="val 15902"/>
                  </a:avLst>
                </a:prstGeom>
                <a:solidFill>
                  <a:srgbClr val="FFFFFF">
                    <a:alpha val="100000"/>
                  </a:srgbClr>
                </a:solidFill>
                <a:ln w="12700">
                  <a:solidFill>
                    <a:srgbClr val="BC8C00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83333"/>
                    </a:lnSpc>
                    <a:defRPr/>
                  </a:pPr>
                  <a:r>
                    <a:rPr lang="en-US" b="false" i="false" strike="noStrike" u="none" sz="1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信息展示</a:t>
                  </a:r>
                  <a:endParaRPr lang="en-US" sz="1100"/>
                </a:p>
              </p:txBody>
            </p:sp>
            <p:sp>
              <p:nvSpPr>
                <p:cNvPr name="AutoShape 23" id="23"/>
                <p:cNvSpPr/>
                <p:nvPr/>
              </p:nvSpPr>
              <p:spPr>
                <a:xfrm rot="0" flipH="false" flipV="false">
                  <a:off x="9579467" y="6245693"/>
                  <a:ext cx="1462660" cy="399303"/>
                </a:xfrm>
                <a:prstGeom prst="roundRect">
                  <a:avLst>
                    <a:gd name="adj" fmla="val 15902"/>
                  </a:avLst>
                </a:prstGeom>
                <a:solidFill>
                  <a:srgbClr val="FFFFFF">
                    <a:alpha val="100000"/>
                  </a:srgbClr>
                </a:solidFill>
                <a:ln w="12700">
                  <a:solidFill>
                    <a:srgbClr val="BC8C00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83333"/>
                    </a:lnSpc>
                    <a:defRPr/>
                  </a:pPr>
                  <a:r>
                    <a:rPr lang="en-US" b="false" i="false" strike="noStrike" u="none" sz="1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交易服务</a:t>
                  </a:r>
                  <a:endParaRPr lang="en-US" sz="1100"/>
                </a:p>
              </p:txBody>
            </p:sp>
          </p:grpSp>
          <p:sp>
            <p:nvSpPr>
              <p:cNvPr name="AutoShape 24" id="24"/>
              <p:cNvSpPr/>
              <p:nvPr/>
            </p:nvSpPr>
            <p:spPr>
              <a:xfrm rot="0" flipH="false" flipV="false">
                <a:off x="8519825" y="5859816"/>
                <a:ext cx="2069287" cy="416471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127000" rIns="127000" tIns="63500" bIns="63500">
                <a:spAutoFit/>
              </a:bodyPr>
              <a:lstStyle/>
              <a:p>
                <a:pPr algn="ctr" marL="0" indent="0">
                  <a:lnSpc>
                    <a:spcPct val="104166"/>
                  </a:lnSpc>
                  <a:defRPr/>
                </a:pPr>
                <a:r>
                  <a:rPr lang="en-US" b="true" i="false" strike="noStrike" u="none" sz="16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一站式解决方案</a:t>
                </a:r>
                <a:endParaRPr lang="en-US" sz="1100"/>
              </a:p>
            </p:txBody>
          </p:sp>
          <p:sp>
            <p:nvSpPr>
              <p:cNvPr name="AutoShape 25" id="25"/>
              <p:cNvSpPr/>
              <p:nvPr/>
            </p:nvSpPr>
            <p:spPr>
              <a:xfrm rot="10800000" flipH="false" flipV="false">
                <a:off x="8704868" y="5670116"/>
                <a:ext cx="1641935" cy="181149"/>
              </a:xfrm>
              <a:prstGeom prst="triangle">
                <a:avLst/>
              </a:prstGeom>
              <a:solidFill>
                <a:srgbClr val="E5E5E5">
                  <a:alpha val="100000"/>
                </a:srgbClr>
              </a:solidFill>
              <a:ln w="12700">
                <a:solidFill>
                  <a:srgbClr val="E5E5E5">
                    <a:alpha val="100000"/>
                  </a:srgbClr>
                </a:solidFill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false" i="false" strike="noStrike" u="none" sz="2400">
                    <a:solidFill>
                      <a:srgbClr val="7F7F7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  <a:endParaRPr lang="en-US" sz="1100"/>
              </a:p>
            </p:txBody>
          </p:sp>
          <p:grpSp>
            <p:nvGrpSpPr>
              <p:cNvPr name="Group 26" id="26"/>
              <p:cNvGrpSpPr/>
              <p:nvPr/>
            </p:nvGrpSpPr>
            <p:grpSpPr>
              <a:xfrm>
                <a:off x="7718168" y="4584456"/>
                <a:ext cx="3516263" cy="3249013"/>
                <a:chOff x="7718168" y="4584456"/>
                <a:chExt cx="3516263" cy="3249013"/>
              </a:xfrm>
            </p:grpSpPr>
            <p:cxnSp>
              <p:nvCxnSpPr>
                <p:cNvPr name="Connector 27" id="27"/>
                <p:cNvCxnSpPr/>
                <p:nvPr/>
              </p:nvCxnSpPr>
              <p:spPr>
                <a:xfrm rot="0" flipH="false" flipV="true">
                  <a:off x="7718168" y="4681424"/>
                  <a:ext cx="0" cy="3069116"/>
                </a:xfrm>
                <a:prstGeom prst="straightConnector1">
                  <a:avLst/>
                </a:prstGeom>
                <a:noFill/>
                <a:ln w="12700">
                  <a:solidFill>
                    <a:srgbClr val="FFC000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  <p:cxnSp>
              <p:nvCxnSpPr>
                <p:cNvPr name="Connector 28" id="28"/>
                <p:cNvCxnSpPr/>
                <p:nvPr/>
              </p:nvCxnSpPr>
              <p:spPr>
                <a:xfrm rot="0" flipH="false" flipV="true">
                  <a:off x="11234431" y="4584456"/>
                  <a:ext cx="0" cy="3249013"/>
                </a:xfrm>
                <a:prstGeom prst="straightConnector1">
                  <a:avLst/>
                </a:prstGeom>
                <a:noFill/>
                <a:ln w="12700">
                  <a:solidFill>
                    <a:srgbClr val="FFC000">
                      <a:alpha val="100000"/>
                    </a:srgbClr>
                  </a:solidFill>
                  <a:prstDash val="solid"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name="AutoShape 29" id="29"/>
              <p:cNvSpPr/>
              <p:nvPr/>
            </p:nvSpPr>
            <p:spPr>
              <a:xfrm rot="0" flipH="false" flipV="false">
                <a:off x="8331549" y="4821868"/>
                <a:ext cx="2423644" cy="515632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127000" rIns="127000" tIns="63500" bIns="63500">
                <a:spAutoFit/>
              </a:bodyPr>
              <a:lstStyle/>
              <a:p>
                <a:pPr algn="ctr" marL="0" indent="0">
                  <a:lnSpc>
                    <a:spcPct val="104166"/>
                  </a:lnSpc>
                  <a:defRPr/>
                </a:pPr>
                <a:r>
                  <a:rPr lang="en-US" b="true" i="false" strike="noStrike" u="none" sz="21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XXXXXX平台</a:t>
                </a:r>
                <a:endParaRPr lang="en-US" sz="1100"/>
              </a:p>
            </p:txBody>
          </p:sp>
          <p:sp>
            <p:nvSpPr>
              <p:cNvPr name="AutoShape 30" id="30"/>
              <p:cNvSpPr/>
              <p:nvPr/>
            </p:nvSpPr>
            <p:spPr>
              <a:xfrm rot="0" flipH="false" flipV="false">
                <a:off x="7396945" y="4908539"/>
                <a:ext cx="286819" cy="521776"/>
              </a:xfrm>
              <a:prstGeom prst="rightArrow">
                <a:avLst/>
              </a:prstGeom>
              <a:solidFill>
                <a:srgbClr val="FFC000">
                  <a:alpha val="100000"/>
                </a:srgbClr>
              </a:solidFill>
              <a:ln w="12700">
                <a:solidFill>
                  <a:srgbClr val="BC8C00">
                    <a:alpha val="100000"/>
                  </a:srgbClr>
                </a:solidFill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false" i="false" strike="noStrike" u="none" sz="2400">
                    <a:solidFill>
                      <a:srgbClr val="7F7F7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  <a:endParaRPr lang="en-US" sz="1100"/>
              </a:p>
            </p:txBody>
          </p:sp>
          <p:sp>
            <p:nvSpPr>
              <p:cNvPr name="AutoShape 31" id="31"/>
              <p:cNvSpPr/>
              <p:nvPr/>
            </p:nvSpPr>
            <p:spPr>
              <a:xfrm rot="0" flipH="false" flipV="false">
                <a:off x="11377705" y="4861355"/>
                <a:ext cx="237427" cy="521776"/>
              </a:xfrm>
              <a:prstGeom prst="rightArrow">
                <a:avLst/>
              </a:prstGeom>
              <a:solidFill>
                <a:srgbClr val="FFC000">
                  <a:alpha val="100000"/>
                </a:srgbClr>
              </a:solidFill>
              <a:ln w="12700">
                <a:solidFill>
                  <a:srgbClr val="BC8C00">
                    <a:alpha val="100000"/>
                  </a:srgbClr>
                </a:solidFill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false" i="false" strike="noStrike" u="none" sz="2400">
                    <a:solidFill>
                      <a:srgbClr val="7F7F7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  <a:endParaRPr lang="en-US" sz="1100"/>
              </a:p>
            </p:txBody>
          </p:sp>
          <p:grpSp>
            <p:nvGrpSpPr>
              <p:cNvPr name="Group 32" id="32"/>
              <p:cNvGrpSpPr/>
              <p:nvPr/>
            </p:nvGrpSpPr>
            <p:grpSpPr>
              <a:xfrm>
                <a:off x="11844069" y="4584456"/>
                <a:ext cx="1818031" cy="1802508"/>
                <a:chOff x="11844069" y="4584456"/>
                <a:chExt cx="1818031" cy="1802508"/>
              </a:xfrm>
            </p:grpSpPr>
            <p:sp>
              <p:nvSpPr>
                <p:cNvPr name="AutoShape 33" id="33"/>
                <p:cNvSpPr/>
                <p:nvPr/>
              </p:nvSpPr>
              <p:spPr>
                <a:xfrm rot="0" flipH="false" flipV="false">
                  <a:off x="12464385" y="4611603"/>
                  <a:ext cx="1167585" cy="532725"/>
                </a:xfrm>
                <a:prstGeom prst="roundRect">
                  <a:avLst>
                    <a:gd name="adj" fmla="val 16687"/>
                  </a:avLst>
                </a:prstGeom>
                <a:solidFill>
                  <a:srgbClr val="FFFFFF">
                    <a:alpha val="100000"/>
                  </a:srgbClr>
                </a:solidFill>
                <a:ln w="12700">
                  <a:solidFill>
                    <a:srgbClr val="BC8C00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100000"/>
                    </a:lnSpc>
                    <a:defRPr/>
                  </a:pPr>
                  <a:r>
                    <a:rPr lang="en-US" b="false" i="false" strike="noStrike" u="none" sz="1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xx</a:t>
                  </a:r>
                  <a:endParaRPr lang="en-US" sz="1100"/>
                </a:p>
              </p:txBody>
            </p:sp>
            <p:sp>
              <p:nvSpPr>
                <p:cNvPr name="AutoShape 34" id="34"/>
                <p:cNvSpPr/>
                <p:nvPr/>
              </p:nvSpPr>
              <p:spPr>
                <a:xfrm rot="0" flipH="false" flipV="false">
                  <a:off x="12481715" y="5217733"/>
                  <a:ext cx="1167585" cy="532725"/>
                </a:xfrm>
                <a:prstGeom prst="roundRect">
                  <a:avLst>
                    <a:gd name="adj" fmla="val 16687"/>
                  </a:avLst>
                </a:prstGeom>
                <a:solidFill>
                  <a:srgbClr val="FFFFFF">
                    <a:alpha val="100000"/>
                  </a:srgbClr>
                </a:solidFill>
                <a:ln w="12700">
                  <a:solidFill>
                    <a:srgbClr val="BC8C00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100000"/>
                    </a:lnSpc>
                    <a:defRPr/>
                  </a:pPr>
                  <a:r>
                    <a:rPr lang="en-US" b="false" i="false" strike="noStrike" u="none" sz="1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xxx</a:t>
                  </a:r>
                  <a:endParaRPr lang="en-US" sz="1100"/>
                </a:p>
              </p:txBody>
            </p:sp>
            <p:sp>
              <p:nvSpPr>
                <p:cNvPr name="AutoShape 35" id="35"/>
                <p:cNvSpPr/>
                <p:nvPr/>
              </p:nvSpPr>
              <p:spPr>
                <a:xfrm rot="0" flipH="false" flipV="false">
                  <a:off x="12494515" y="5844635"/>
                  <a:ext cx="1167585" cy="532725"/>
                </a:xfrm>
                <a:prstGeom prst="roundRect">
                  <a:avLst>
                    <a:gd name="adj" fmla="val 16687"/>
                  </a:avLst>
                </a:prstGeom>
                <a:solidFill>
                  <a:srgbClr val="FFFFFF">
                    <a:alpha val="100000"/>
                  </a:srgbClr>
                </a:solidFill>
                <a:ln w="12700">
                  <a:solidFill>
                    <a:srgbClr val="BC8C00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100000"/>
                    </a:lnSpc>
                    <a:defRPr/>
                  </a:pPr>
                  <a:r>
                    <a:rPr lang="en-US" b="false" i="false" strike="noStrike" u="none" sz="1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xxx</a:t>
                  </a:r>
                  <a:endParaRPr lang="en-US" sz="1100"/>
                </a:p>
              </p:txBody>
            </p:sp>
            <p:sp>
              <p:nvSpPr>
                <p:cNvPr name="AutoShape 36" id="36"/>
                <p:cNvSpPr/>
                <p:nvPr/>
              </p:nvSpPr>
              <p:spPr>
                <a:xfrm rot="0" flipH="false" flipV="false">
                  <a:off x="11844069" y="4584456"/>
                  <a:ext cx="549272" cy="855689"/>
                </a:xfrm>
                <a:prstGeom prst="roundRect">
                  <a:avLst>
                    <a:gd name="adj" fmla="val 16185"/>
                  </a:avLst>
                </a:prstGeom>
                <a:solidFill>
                  <a:srgbClr val="F2F2F2">
                    <a:alpha val="100000"/>
                  </a:srgbClr>
                </a:solidFill>
                <a:ln w="12700">
                  <a:solidFill>
                    <a:srgbClr val="BC8C00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100000"/>
                    </a:lnSpc>
                    <a:defRPr/>
                  </a:pPr>
                  <a:r>
                    <a:rPr lang="en-US" b="false" i="false" strike="noStrike" u="none" sz="1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国内</a:t>
                  </a:r>
                  <a:endParaRPr lang="en-US" sz="1100"/>
                </a:p>
              </p:txBody>
            </p:sp>
            <p:sp>
              <p:nvSpPr>
                <p:cNvPr name="AutoShape 37" id="37"/>
                <p:cNvSpPr/>
                <p:nvPr/>
              </p:nvSpPr>
              <p:spPr>
                <a:xfrm rot="0" flipH="false" flipV="false">
                  <a:off x="11844069" y="5531275"/>
                  <a:ext cx="549272" cy="855689"/>
                </a:xfrm>
                <a:prstGeom prst="roundRect">
                  <a:avLst>
                    <a:gd name="adj" fmla="val 16185"/>
                  </a:avLst>
                </a:prstGeom>
                <a:solidFill>
                  <a:srgbClr val="F2F2F2">
                    <a:alpha val="100000"/>
                  </a:srgbClr>
                </a:solidFill>
                <a:ln w="12700">
                  <a:solidFill>
                    <a:srgbClr val="BC8C00">
                      <a:alpha val="100000"/>
                    </a:srgbClr>
                  </a:solidFill>
                  <a:prstDash val="solid"/>
                </a:ln>
              </p:spPr>
              <p:txBody>
                <a:bodyPr anchor="ctr" rtlCol="false" wrap="square" lIns="127000" rIns="127000" tIns="63500" bIns="63500">
                  <a:noAutofit/>
                </a:bodyPr>
                <a:lstStyle/>
                <a:p>
                  <a:pPr algn="ctr" marL="0" indent="0">
                    <a:lnSpc>
                      <a:spcPct val="100000"/>
                    </a:lnSpc>
                    <a:defRPr/>
                  </a:pPr>
                  <a:r>
                    <a:rPr lang="en-US" b="false" i="false" strike="noStrike" u="none" sz="1400">
                      <a:solidFill>
                        <a:srgbClr val="7F7F7F"/>
                      </a:solidFill>
                      <a:latin typeface="微软雅黑"/>
                      <a:ea typeface="微软雅黑"/>
                      <a:cs typeface="微软雅黑"/>
                      <a:sym typeface="微软雅黑"/>
                    </a:rPr>
                    <a:t>国外</a:t>
                  </a:r>
                  <a:endParaRPr lang="en-US" sz="1100"/>
                </a:p>
              </p:txBody>
            </p:sp>
          </p:grpSp>
          <p:grpSp>
            <p:nvGrpSpPr>
              <p:cNvPr name="Group 38" id="38"/>
              <p:cNvGrpSpPr/>
              <p:nvPr/>
            </p:nvGrpSpPr>
            <p:grpSpPr>
              <a:xfrm>
                <a:off x="5221919" y="6614777"/>
                <a:ext cx="2562504" cy="536066"/>
                <a:chOff x="5221919" y="6614777"/>
                <a:chExt cx="2562504" cy="536066"/>
              </a:xfrm>
            </p:grpSpPr>
            <p:cxnSp>
              <p:nvCxnSpPr>
                <p:cNvPr name="Connector 39" id="39"/>
                <p:cNvCxnSpPr/>
                <p:nvPr/>
              </p:nvCxnSpPr>
              <p:spPr>
                <a:xfrm rot="10800000" flipH="false" flipV="true">
                  <a:off x="5221919" y="7150843"/>
                  <a:ext cx="2562504" cy="0"/>
                </a:xfrm>
                <a:prstGeom prst="straightConnector1">
                  <a:avLst/>
                </a:prstGeom>
                <a:noFill/>
                <a:ln w="50800">
                  <a:solidFill>
                    <a:srgbClr val="BFBFBF">
                      <a:alpha val="100000"/>
                    </a:srgbClr>
                  </a:solidFill>
                  <a:prstDash val="solid"/>
                  <a:headEnd type="none" w="lg" len="lg"/>
                  <a:tailEnd type="none" w="lg" len="lg"/>
                </a:ln>
              </p:spPr>
            </p:cxnSp>
            <p:cxnSp>
              <p:nvCxnSpPr>
                <p:cNvPr name="Connector 40" id="40"/>
                <p:cNvCxnSpPr/>
                <p:nvPr/>
              </p:nvCxnSpPr>
              <p:spPr>
                <a:xfrm rot="0" flipH="false" flipV="true">
                  <a:off x="5221919" y="6614777"/>
                  <a:ext cx="0" cy="536065"/>
                </a:xfrm>
                <a:prstGeom prst="straightConnector1">
                  <a:avLst/>
                </a:prstGeom>
                <a:noFill/>
                <a:ln w="50800">
                  <a:solidFill>
                    <a:srgbClr val="BFBFBF">
                      <a:alpha val="100000"/>
                    </a:srgbClr>
                  </a:solidFill>
                  <a:prstDash val="solid"/>
                  <a:headEnd type="none" w="lg" len="lg"/>
                  <a:tailEnd type="triangle" w="lg" len="lg"/>
                </a:ln>
              </p:spPr>
            </p:cxnSp>
          </p:grpSp>
          <p:grpSp>
            <p:nvGrpSpPr>
              <p:cNvPr name="Group 41" id="41"/>
              <p:cNvGrpSpPr/>
              <p:nvPr/>
            </p:nvGrpSpPr>
            <p:grpSpPr>
              <a:xfrm>
                <a:off x="11165623" y="6532861"/>
                <a:ext cx="2099359" cy="534067"/>
                <a:chOff x="11165623" y="6532861"/>
                <a:chExt cx="2099359" cy="534067"/>
              </a:xfrm>
            </p:grpSpPr>
            <p:cxnSp>
              <p:nvCxnSpPr>
                <p:cNvPr name="Connector 42" id="42"/>
                <p:cNvCxnSpPr/>
                <p:nvPr/>
              </p:nvCxnSpPr>
              <p:spPr>
                <a:xfrm rot="10800000" flipH="false" flipV="false">
                  <a:off x="11165623" y="6532861"/>
                  <a:ext cx="2099359" cy="0"/>
                </a:xfrm>
                <a:prstGeom prst="straightConnector1">
                  <a:avLst/>
                </a:prstGeom>
                <a:noFill/>
                <a:ln w="50800">
                  <a:solidFill>
                    <a:srgbClr val="BFBFBF">
                      <a:alpha val="100000"/>
                    </a:srgbClr>
                  </a:solidFill>
                  <a:prstDash val="solid"/>
                  <a:headEnd type="none" w="lg" len="lg"/>
                  <a:tailEnd type="none" w="lg" len="lg"/>
                </a:ln>
              </p:spPr>
            </p:cxnSp>
            <p:cxnSp>
              <p:nvCxnSpPr>
                <p:cNvPr name="Connector 43" id="43"/>
                <p:cNvCxnSpPr/>
                <p:nvPr/>
              </p:nvCxnSpPr>
              <p:spPr>
                <a:xfrm rot="0" flipH="false" flipV="false">
                  <a:off x="11165623" y="6532861"/>
                  <a:ext cx="0" cy="534067"/>
                </a:xfrm>
                <a:prstGeom prst="straightConnector1">
                  <a:avLst/>
                </a:prstGeom>
                <a:noFill/>
                <a:ln w="50800">
                  <a:solidFill>
                    <a:srgbClr val="BFBFBF">
                      <a:alpha val="100000"/>
                    </a:srgbClr>
                  </a:solidFill>
                  <a:prstDash val="solid"/>
                  <a:headEnd type="none" w="lg" len="lg"/>
                  <a:tailEnd type="triangle" w="lg" len="lg"/>
                </a:ln>
              </p:spPr>
            </p:cxnSp>
          </p:grpSp>
          <p:sp>
            <p:nvSpPr>
              <p:cNvPr name="AutoShape 44" id="44"/>
              <p:cNvSpPr/>
              <p:nvPr/>
            </p:nvSpPr>
            <p:spPr>
              <a:xfrm rot="0" flipH="false" flipV="false">
                <a:off x="5410412" y="6644221"/>
                <a:ext cx="2575259" cy="1071063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127000" rIns="127000" tIns="63500" bIns="63500">
                <a:spAutoFit/>
              </a:bodyPr>
              <a:lstStyle/>
              <a:p>
                <a:pPr algn="l" indent="-177800" marL="177800">
                  <a:lnSpc>
                    <a:spcPct val="91666"/>
                  </a:lnSpc>
                  <a:buClr>
                    <a:srgbClr val="000000"/>
                  </a:buClr>
                  <a:buChar char="•"/>
                  <a:defRPr/>
                </a:pPr>
                <a:r>
                  <a:rPr lang="en-US" b="false" i="false" strike="noStrike" u="none" sz="1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更多买家</a:t>
                </a:r>
                <a:endParaRPr lang="en-US" sz="1100"/>
              </a:p>
              <a:p>
                <a:pPr algn="l" indent="-177800" marL="177800">
                  <a:lnSpc>
                    <a:spcPct val="91666"/>
                  </a:lnSpc>
                  <a:buClr>
                    <a:srgbClr val="000000"/>
                  </a:buClr>
                  <a:buChar char="•"/>
                </a:pPr>
                <a:r>
                  <a:rPr lang="en-US" b="false" i="false" strike="noStrike" u="none" sz="1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XXXX</a:t>
                </a:r>
              </a:p>
              <a:p>
                <a:pPr algn="l" indent="-177800" marL="177800">
                  <a:lnSpc>
                    <a:spcPct val="91666"/>
                  </a:lnSpc>
                  <a:buClr>
                    <a:srgbClr val="000000"/>
                  </a:buClr>
                  <a:buChar char="•"/>
                </a:pPr>
                <a:r>
                  <a:rPr lang="en-US" b="false" i="false" strike="noStrike" u="none" sz="1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XXXX</a:t>
                </a:r>
              </a:p>
              <a:p>
                <a:pPr algn="l" indent="-177800" marL="177800">
                  <a:lnSpc>
                    <a:spcPct val="91666"/>
                  </a:lnSpc>
                  <a:buClr>
                    <a:srgbClr val="000000"/>
                  </a:buClr>
                  <a:buChar char="•"/>
                </a:pPr>
                <a:r>
                  <a:rPr lang="en-US" b="false" i="false" strike="noStrike" u="none" sz="1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…</a:t>
                </a:r>
              </a:p>
            </p:txBody>
          </p:sp>
          <p:sp>
            <p:nvSpPr>
              <p:cNvPr name="AutoShape 45" id="45"/>
              <p:cNvSpPr/>
              <p:nvPr/>
            </p:nvSpPr>
            <p:spPr>
              <a:xfrm rot="0" flipH="false" flipV="false">
                <a:off x="11401135" y="6557912"/>
                <a:ext cx="2575259" cy="1308051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127000" rIns="127000" tIns="63500" bIns="63500">
                <a:spAutoFit/>
              </a:bodyPr>
              <a:lstStyle/>
              <a:p>
                <a:pPr algn="l" indent="-177800" marL="177800">
                  <a:lnSpc>
                    <a:spcPct val="91666"/>
                  </a:lnSpc>
                  <a:buClr>
                    <a:srgbClr val="000000"/>
                  </a:buClr>
                  <a:buChar char="•"/>
                  <a:defRPr/>
                </a:pPr>
                <a:r>
                  <a:rPr lang="en-US" b="false" i="false" strike="noStrike" u="none" sz="1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更多货源来源</a:t>
                </a:r>
                <a:endParaRPr lang="en-US" sz="1100"/>
              </a:p>
              <a:p>
                <a:pPr algn="l" indent="-177800" marL="177800">
                  <a:lnSpc>
                    <a:spcPct val="91666"/>
                  </a:lnSpc>
                  <a:buClr>
                    <a:srgbClr val="000000"/>
                  </a:buClr>
                  <a:buChar char="•"/>
                </a:pPr>
                <a:r>
                  <a:rPr lang="en-US" b="false" i="false" strike="noStrike" u="none" sz="1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更XXX</a:t>
                </a:r>
              </a:p>
              <a:p>
                <a:pPr algn="l" indent="-177800" marL="177800">
                  <a:lnSpc>
                    <a:spcPct val="91666"/>
                  </a:lnSpc>
                  <a:buClr>
                    <a:srgbClr val="000000"/>
                  </a:buClr>
                  <a:buChar char="•"/>
                </a:pPr>
                <a:r>
                  <a:rPr lang="en-US" b="false" i="false" strike="noStrike" u="none" sz="1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XXXX</a:t>
                </a:r>
              </a:p>
              <a:p>
                <a:pPr algn="l" indent="-177800" marL="177800">
                  <a:lnSpc>
                    <a:spcPct val="91666"/>
                  </a:lnSpc>
                  <a:buClr>
                    <a:srgbClr val="000000"/>
                  </a:buClr>
                  <a:buChar char="•"/>
                </a:pPr>
                <a:r>
                  <a:rPr lang="en-US" b="false" i="false" strike="noStrike" u="none" sz="1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…</a:t>
                </a:r>
              </a:p>
              <a:p>
                <a:pPr algn="l" marL="0" indent="0">
                  <a:lnSpc>
                    <a:spcPct val="91666"/>
                  </a:lnSpc>
                </a:pPr>
                <a:r>
                  <a:rPr lang="en-US" b="false" i="false" strike="noStrike" u="none" sz="2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</a:p>
            </p:txBody>
          </p:sp>
          <p:sp>
            <p:nvSpPr>
              <p:cNvPr name="AutoShape 46" id="46"/>
              <p:cNvSpPr/>
              <p:nvPr/>
            </p:nvSpPr>
            <p:spPr>
              <a:xfrm rot="0" flipH="false" flipV="false">
                <a:off x="4503340" y="4016597"/>
                <a:ext cx="1884101" cy="478924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127000" rIns="127000" tIns="63500" bIns="63500">
                <a:spAutoFit/>
              </a:bodyPr>
              <a:lstStyle/>
              <a:p>
                <a:pPr algn="ctr" marL="0" indent="0">
                  <a:lnSpc>
                    <a:spcPct val="104166"/>
                  </a:lnSpc>
                  <a:defRPr/>
                </a:pPr>
                <a:r>
                  <a:rPr lang="en-US" b="true" i="false" strike="noStrike" u="none" sz="1800">
                    <a:solidFill>
                      <a:srgbClr val="0020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B</a:t>
                </a:r>
                <a:endParaRPr lang="en-US" sz="1100"/>
              </a:p>
            </p:txBody>
          </p:sp>
          <p:sp>
            <p:nvSpPr>
              <p:cNvPr name="AutoShape 47" id="47"/>
              <p:cNvSpPr/>
              <p:nvPr/>
            </p:nvSpPr>
            <p:spPr>
              <a:xfrm rot="0" flipH="false" flipV="false">
                <a:off x="8310781" y="4016597"/>
                <a:ext cx="1884101" cy="478924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127000" rIns="127000" tIns="63500" bIns="63500">
                <a:spAutoFit/>
              </a:bodyPr>
              <a:lstStyle/>
              <a:p>
                <a:pPr algn="ctr" marL="0" indent="0">
                  <a:lnSpc>
                    <a:spcPct val="104166"/>
                  </a:lnSpc>
                  <a:defRPr/>
                </a:pPr>
                <a:r>
                  <a:rPr lang="en-US" b="true" i="false" strike="noStrike" u="none" sz="1800">
                    <a:solidFill>
                      <a:srgbClr val="0020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B</a:t>
                </a:r>
                <a:endParaRPr lang="en-US" sz="1100"/>
              </a:p>
            </p:txBody>
          </p:sp>
          <p:cxnSp>
            <p:nvCxnSpPr>
              <p:cNvPr name="Connector 48" id="48"/>
              <p:cNvCxnSpPr/>
              <p:nvPr/>
            </p:nvCxnSpPr>
            <p:spPr>
              <a:xfrm rot="0" flipH="false" flipV="false">
                <a:off x="5767156" y="4238964"/>
                <a:ext cx="3264244" cy="0"/>
              </a:xfrm>
              <a:prstGeom prst="straightConnector1">
                <a:avLst/>
              </a:prstGeom>
              <a:noFill/>
              <a:ln w="12700">
                <a:solidFill>
                  <a:srgbClr val="FFC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</p:cxnSp>
          <p:grpSp>
            <p:nvGrpSpPr>
              <p:cNvPr name="Group 49" id="49"/>
              <p:cNvGrpSpPr/>
              <p:nvPr/>
            </p:nvGrpSpPr>
            <p:grpSpPr>
              <a:xfrm>
                <a:off x="7151704" y="4113031"/>
                <a:ext cx="416988" cy="277177"/>
                <a:chOff x="7151704" y="4113031"/>
                <a:chExt cx="416988" cy="277177"/>
              </a:xfrm>
            </p:grpSpPr>
            <p:sp>
              <p:nvSpPr>
                <p:cNvPr name="AutoShape 50" id="50"/>
                <p:cNvSpPr/>
                <p:nvPr/>
              </p:nvSpPr>
              <p:spPr>
                <a:xfrm rot="0" flipH="false" flipV="false">
                  <a:off x="7151704" y="4142489"/>
                  <a:ext cx="416988" cy="218260"/>
                </a:xfrm>
                <a:prstGeom prst="rect">
                  <a:avLst/>
                </a:prstGeom>
                <a:solidFill>
                  <a:srgbClr val="FFFFFF">
                    <a:alpha val="100000"/>
                  </a:srgbClr>
                </a:solidFill>
                <a:ln w="12700">
                  <a:noFill/>
                  <a:prstDash val="solid"/>
                </a:ln>
              </p:spPr>
              <p:txBody>
                <a:bodyPr anchor="ctr" rtlCol="false" wrap="square" lIns="0" rIns="0" tIns="0" bIns="0">
                  <a:noAutofit/>
                </a:bodyPr>
                <a:lstStyle/>
                <a:p>
                  <a:pPr algn="l" marL="0" indent="0">
                    <a:lnSpc>
                      <a:spcPct val="83333"/>
                    </a:lnSpc>
                    <a:defRPr/>
                  </a:pPr>
                  <a:r>
                    <a:rPr lang="en-US" b="false" i="false" strike="noStrike" u="none"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 </a:t>
                  </a:r>
                  <a:endParaRPr lang="en-US" sz="1100"/>
                </a:p>
              </p:txBody>
            </p:sp>
            <p:pic>
              <p:nvPicPr>
                <p:cNvPr name="Picture 51" id="51"/>
                <p:cNvPicPr>
                  <a:picLocks noChangeAspect="true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 rot="0" flipH="false" flipV="false">
                  <a:off x="7222039" y="4113031"/>
                  <a:ext cx="276317" cy="277177"/>
                </a:xfrm>
                <a:prstGeom prst="rect">
                  <a:avLst/>
                </a:prstGeom>
                <a:ln w="25400">
                  <a:noFill/>
                  <a:prstDash val="solid"/>
                </a:ln>
              </p:spPr>
            </p:pic>
          </p:grpSp>
          <p:cxnSp>
            <p:nvCxnSpPr>
              <p:cNvPr name="Connector 52" id="52"/>
              <p:cNvCxnSpPr/>
              <p:nvPr/>
            </p:nvCxnSpPr>
            <p:spPr>
              <a:xfrm rot="0" flipH="false" flipV="false">
                <a:off x="9503643" y="4241097"/>
                <a:ext cx="1230284" cy="0"/>
              </a:xfrm>
              <a:prstGeom prst="straightConnector1">
                <a:avLst/>
              </a:prstGeom>
              <a:noFill/>
              <a:ln w="12700">
                <a:solidFill>
                  <a:srgbClr val="FFC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name="AutoShape 53" id="53"/>
              <p:cNvSpPr/>
              <p:nvPr/>
            </p:nvSpPr>
            <p:spPr>
              <a:xfrm rot="0" flipH="false" flipV="false">
                <a:off x="10893792" y="4142060"/>
                <a:ext cx="766297" cy="223324"/>
              </a:xfrm>
              <a:prstGeom prst="rightArrow">
                <a:avLst/>
              </a:prstGeom>
              <a:solidFill>
                <a:srgbClr val="5F5F5F">
                  <a:alpha val="100000"/>
                </a:srgbClr>
              </a:solidFill>
              <a:ln w="12700">
                <a:solidFill>
                  <a:srgbClr val="FFFFFF">
                    <a:alpha val="100000"/>
                  </a:srgbClr>
                </a:solidFill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false" i="false" strike="noStrike" u="none" sz="2400">
                    <a:solidFill>
                      <a:srgbClr val="7F7F7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  <a:endParaRPr lang="en-US" sz="1100"/>
              </a:p>
            </p:txBody>
          </p:sp>
          <p:cxnSp>
            <p:nvCxnSpPr>
              <p:cNvPr name="Connector 54" id="54"/>
              <p:cNvCxnSpPr/>
              <p:nvPr/>
            </p:nvCxnSpPr>
            <p:spPr>
              <a:xfrm rot="0" flipH="false" flipV="false">
                <a:off x="11758804" y="4257620"/>
                <a:ext cx="1125744" cy="0"/>
              </a:xfrm>
              <a:prstGeom prst="straightConnector1">
                <a:avLst/>
              </a:prstGeom>
              <a:noFill/>
              <a:ln w="12700">
                <a:solidFill>
                  <a:srgbClr val="FFC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name="AutoShape 55" id="55"/>
              <p:cNvSpPr/>
              <p:nvPr/>
            </p:nvSpPr>
            <p:spPr>
              <a:xfrm rot="0" flipH="false" flipV="false">
                <a:off x="12283333" y="4016597"/>
                <a:ext cx="1884101" cy="478924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127000" rIns="127000" tIns="63500" bIns="63500">
                <a:spAutoFit/>
              </a:bodyPr>
              <a:lstStyle/>
              <a:p>
                <a:pPr algn="ctr" marL="0" indent="0">
                  <a:lnSpc>
                    <a:spcPct val="104166"/>
                  </a:lnSpc>
                  <a:defRPr/>
                </a:pPr>
                <a:r>
                  <a:rPr lang="en-US" b="true" i="false" strike="noStrike" u="none" sz="1800">
                    <a:solidFill>
                      <a:srgbClr val="00206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R</a:t>
                </a:r>
                <a:endParaRPr lang="en-US" sz="1100"/>
              </a:p>
            </p:txBody>
          </p:sp>
          <p:cxnSp>
            <p:nvCxnSpPr>
              <p:cNvPr name="Connector 56" id="56"/>
              <p:cNvCxnSpPr/>
              <p:nvPr/>
            </p:nvCxnSpPr>
            <p:spPr>
              <a:xfrm rot="0" flipH="false" flipV="true">
                <a:off x="5165772" y="7895184"/>
                <a:ext cx="7912735" cy="30444"/>
              </a:xfrm>
              <a:prstGeom prst="straightConnector1">
                <a:avLst/>
              </a:prstGeom>
              <a:noFill/>
              <a:ln w="12700">
                <a:solidFill>
                  <a:srgbClr val="FFC00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</p:cxnSp>
          <p:sp>
            <p:nvSpPr>
              <p:cNvPr name="AutoShape 57" id="57"/>
              <p:cNvSpPr/>
              <p:nvPr/>
            </p:nvSpPr>
            <p:spPr>
              <a:xfrm rot="0" flipH="false" flipV="false">
                <a:off x="4945864" y="7956029"/>
                <a:ext cx="8365347" cy="403085"/>
              </a:xfrm>
              <a:prstGeom prst="rect">
                <a:avLst/>
              </a:prstGeom>
              <a:noFill/>
              <a:ln w="12700">
                <a:noFill/>
                <a:prstDash val="solid"/>
              </a:ln>
            </p:spPr>
            <p:txBody>
              <a:bodyPr anchor="t" rtlCol="false" wrap="square" lIns="127000" rIns="127000" tIns="63500" bIns="63500">
                <a:spAutoFit/>
              </a:bodyPr>
              <a:lstStyle/>
              <a:p>
                <a:pPr algn="l" marL="0" indent="0">
                  <a:lnSpc>
                    <a:spcPct val="91666"/>
                  </a:lnSpc>
                  <a:defRPr/>
                </a:pPr>
                <a:r>
                  <a:rPr lang="en-US" b="true" i="false" strike="noStrike" u="none" sz="1800">
                    <a:solidFill>
                      <a:srgbClr val="FFC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XXXXX实现了</a:t>
                </a:r>
                <a:r>
                  <a:rPr lang="en-US" b="true" i="false" strike="noStrike" u="none" sz="1400">
                    <a:solidFill>
                      <a:srgbClr val="000000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：加快行业信息流转、解决行业价格通明、降低行业成本、提高行业效率</a:t>
                </a:r>
                <a:endParaRPr lang="en-US" sz="1100"/>
              </a:p>
            </p:txBody>
          </p:sp>
        </p:grpSp>
      </p:grpSp>
      <p:sp>
        <p:nvSpPr>
          <p:cNvPr name="AutoShape 58" id="58"/>
          <p:cNvSpPr/>
          <p:nvPr/>
        </p:nvSpPr>
        <p:spPr>
          <a:xfrm rot="-1432647" flipH="false" flipV="false">
            <a:off x="12176981" y="3642808"/>
            <a:ext cx="1680409" cy="608285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sp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210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描述示例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r">
              <a:lnSpc>
                <a:spcPct val="83333"/>
              </a:lnSpc>
              <a:defRPr sz="1300" b="false" i="false" u="none" strike="noStrike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algn="r"/>
            <a:endParaRPr/>
          </a:p>
        </p:txBody>
      </p:sp>
      <p:sp>
        <p:nvSpPr>
          <p:cNvPr name="AutoShape 3" id="3"/>
          <p:cNvSpPr/>
          <p:nvPr>
            <p:ph idx="15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l">
              <a:lnSpc>
                <a:spcPct val="75000"/>
              </a:lnSpc>
              <a:defRPr sz="2600" b="tru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37189" y="1586695"/>
            <a:ext cx="1681391" cy="6640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投资亮点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团队介绍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市场概况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痛点分析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商业模式</a:t>
            </a:r>
          </a:p>
          <a:p>
            <a:pPr algn="l" marL="0" indent="0">
              <a:lnSpc>
                <a:spcPct val="104166"/>
              </a:lnSpc>
            </a:pPr>
            <a:r>
              <a:rPr lang="en-US" b="true" i="false" strike="noStrike" u="none" sz="24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竞争格局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运营现状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未来规划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融资计划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1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832847" y="1510352"/>
            <a:ext cx="12550000" cy="69148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noAutofit/>
          </a:bodyPr>
          <a:lstStyle/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目的：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通过竞争格局的分析，回答投资人关心的贵项目如何参与市场竞争的问题；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内容：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描述所处行业的整体竞争状况，可以包括但不限于竞争对手是谁、市场地位、它们的打法与贵公司的差异性、贵公司如何获取市场优势等；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建议一：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最终输出的内容要体现项目如何通过差异化方式与竞争对手抗衡，给投资人信心；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建议二：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如若所处行业尚无竞争对手，可考虑</a:t>
            </a:r>
            <a:r>
              <a:rPr lang="en-US" b="true" i="false" strike="noStrike" u="none" sz="1800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删除本页面</a:t>
            </a:r>
            <a:r>
              <a:rPr lang="en-US" b="false" i="false" strike="noStrike" u="none" sz="18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r">
              <a:lnSpc>
                <a:spcPct val="83333"/>
              </a:lnSpc>
              <a:defRPr sz="1300" b="false" i="false" u="none" strike="noStrike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algn="r"/>
            <a:endParaRPr/>
          </a:p>
        </p:txBody>
      </p:sp>
      <p:sp>
        <p:nvSpPr>
          <p:cNvPr name="AutoShape 3" id="3"/>
          <p:cNvSpPr/>
          <p:nvPr>
            <p:ph idx="15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l">
              <a:lnSpc>
                <a:spcPct val="75000"/>
              </a:lnSpc>
              <a:defRPr sz="2600" b="tru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37189" y="1586695"/>
            <a:ext cx="1681391" cy="6640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投资亮点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团队介绍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市场概况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痛点分析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商业模式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竞争格局</a:t>
            </a:r>
          </a:p>
          <a:p>
            <a:pPr algn="l" marL="0" indent="0">
              <a:lnSpc>
                <a:spcPct val="104166"/>
              </a:lnSpc>
            </a:pPr>
            <a:r>
              <a:rPr lang="en-US" b="true" i="false" strike="noStrike" u="none" sz="24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运营现状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未来规划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融资计划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1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832847" y="1510352"/>
            <a:ext cx="12550000" cy="69148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noAutofit/>
          </a:bodyPr>
          <a:lstStyle/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目的：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通过数据，直观展示项目现有的运营能力；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内容：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能够体现运营现状的关键数据：包括但不限于PV、UV、DAU、用户规模、市场份额等；展现的方式可以是具体数值、历史增长比较或与竞争对手比较等三个维度；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建议一：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所需呈现的数据维度，必须是所处行业关键指标，具体指标可以根据行业的不同进行变更；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建议二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：如果已经运营了一段时间，建议进行历史对比、竞争对比以体现增速；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建议三：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该模块为投资人判断企业经营能力的关键参考，是其BP最为关心的内容之一，请务必呈现。</a:t>
            </a:r>
          </a:p>
        </p:txBody>
      </p:sp>
      <p:grpSp>
        <p:nvGrpSpPr>
          <p:cNvPr name="Group 6" id="6"/>
          <p:cNvGrpSpPr/>
          <p:nvPr/>
        </p:nvGrpSpPr>
        <p:grpSpPr>
          <a:xfrm>
            <a:off x="7110755" y="4121622"/>
            <a:ext cx="6895638" cy="4527378"/>
            <a:chOff x="7110755" y="4121622"/>
            <a:chExt cx="6895638" cy="4527378"/>
          </a:xfrm>
        </p:grpSpPr>
        <p:cxnSp>
          <p:nvCxnSpPr>
            <p:cNvPr name="Connector 7" id="7"/>
            <p:cNvCxnSpPr/>
            <p:nvPr/>
          </p:nvCxnSpPr>
          <p:spPr>
            <a:xfrm rot="0" flipH="false" flipV="false">
              <a:off x="7110755" y="4563363"/>
              <a:ext cx="1" cy="4085637"/>
            </a:xfrm>
            <a:prstGeom prst="straightConnector1">
              <a:avLst/>
            </a:prstGeom>
            <a:noFill/>
            <a:ln w="12700">
              <a:solidFill>
                <a:srgbClr val="FFC000">
                  <a:alpha val="100000"/>
                </a:srgbClr>
              </a:solidFill>
              <a:prstDash val="dot"/>
              <a:headEnd type="none" w="med" len="med"/>
              <a:tailEnd type="none" w="med" len="med"/>
            </a:ln>
          </p:spPr>
        </p:cxnSp>
        <p:cxnSp>
          <p:nvCxnSpPr>
            <p:cNvPr name="Connector 8" id="8"/>
            <p:cNvCxnSpPr/>
            <p:nvPr/>
          </p:nvCxnSpPr>
          <p:spPr>
            <a:xfrm rot="0" flipH="false" flipV="false">
              <a:off x="10187001" y="4557861"/>
              <a:ext cx="1" cy="4085637"/>
            </a:xfrm>
            <a:prstGeom prst="straightConnector1">
              <a:avLst/>
            </a:prstGeom>
            <a:noFill/>
            <a:ln w="12700">
              <a:solidFill>
                <a:srgbClr val="FFC000">
                  <a:alpha val="100000"/>
                </a:srgbClr>
              </a:solidFill>
              <a:prstDash val="dot"/>
              <a:headEnd type="none" w="med" len="med"/>
              <a:tailEnd type="none" w="med" len="med"/>
            </a:ln>
          </p:spPr>
        </p:cxnSp>
        <p:sp>
          <p:nvSpPr>
            <p:cNvPr name="AutoShape 9" id="9"/>
            <p:cNvSpPr/>
            <p:nvPr/>
          </p:nvSpPr>
          <p:spPr>
            <a:xfrm rot="-1432647" flipH="false" flipV="false">
              <a:off x="9167965" y="4435691"/>
              <a:ext cx="1680409" cy="608285"/>
            </a:xfrm>
            <a:prstGeom prst="rect">
              <a:avLst/>
            </a:prstGeom>
            <a:noFill/>
            <a:ln w="12700">
              <a:solidFill>
                <a:srgbClr val="000000">
                  <a:alpha val="100000"/>
                </a:srgbClr>
              </a:solidFill>
              <a:prstDash val="solid"/>
            </a:ln>
          </p:spPr>
          <p:txBody>
            <a:bodyPr anchor="ctr" rtlCol="false" wrap="square" lIns="127000" rIns="127000" tIns="63500" bIns="63500">
              <a:spAutoFit/>
            </a:bodyPr>
            <a:lstStyle/>
            <a:p>
              <a:pPr algn="ctr" marL="0" indent="0">
                <a:lnSpc>
                  <a:spcPct val="83333"/>
                </a:lnSpc>
                <a:defRPr/>
              </a:pPr>
              <a:r>
                <a:rPr lang="en-US" b="false" i="false" strike="noStrike" u="none" sz="2100">
                  <a:solidFill>
                    <a:srgbClr val="C00000"/>
                  </a:solidFill>
                  <a:latin typeface="微软雅黑"/>
                  <a:ea typeface="微软雅黑"/>
                  <a:cs typeface="微软雅黑"/>
                  <a:sym typeface="微软雅黑"/>
                </a:rPr>
                <a:t>描述示例</a:t>
              </a:r>
              <a:endParaRPr lang="en-US" sz="1100"/>
            </a:p>
          </p:txBody>
        </p:sp>
        <p:grpSp>
          <p:nvGrpSpPr>
            <p:cNvPr name="Group 10" id="10"/>
            <p:cNvGrpSpPr/>
            <p:nvPr/>
          </p:nvGrpSpPr>
          <p:grpSpPr>
            <a:xfrm>
              <a:off x="10899576" y="7411936"/>
              <a:ext cx="3106817" cy="540408"/>
              <a:chOff x="10899576" y="7411936"/>
              <a:chExt cx="3106817" cy="540408"/>
            </a:xfrm>
          </p:grpSpPr>
          <p:sp>
            <p:nvSpPr>
              <p:cNvPr name="AutoShape 11" id="11"/>
              <p:cNvSpPr/>
              <p:nvPr/>
            </p:nvSpPr>
            <p:spPr>
              <a:xfrm rot="0" flipH="false" flipV="false">
                <a:off x="12948611" y="7411936"/>
                <a:ext cx="70052" cy="57745"/>
              </a:xfrm>
              <a:prstGeom prst="rect">
                <a:avLst/>
              </a:prstGeom>
              <a:solidFill>
                <a:srgbClr val="FFC000">
                  <a:alpha val="100000"/>
                </a:srgbClr>
              </a:solidFill>
              <a:ln w="12700">
                <a:solidFill>
                  <a:srgbClr val="BC8C00">
                    <a:alpha val="100000"/>
                  </a:srgbClr>
                </a:solidFill>
                <a:prstDash val="solid"/>
              </a:ln>
            </p:spPr>
            <p:txBody>
              <a:bodyPr anchor="ctr" rtlCol="false" wrap="square" lIns="127000" rIns="127000" tIns="63500" bIns="63500">
                <a:noAutofit/>
              </a:bodyPr>
              <a:lstStyle/>
              <a:p>
                <a:pPr algn="ctr" marL="0" indent="0">
                  <a:lnSpc>
                    <a:spcPct val="83333"/>
                  </a:lnSpc>
                  <a:defRPr/>
                </a:pPr>
                <a:r>
                  <a:rPr lang="en-US" b="false" i="false" strike="noStrike" u="none" sz="2400">
                    <a:solidFill>
                      <a:srgbClr val="7F7F7F"/>
                    </a:solidFill>
                    <a:latin typeface="微软雅黑"/>
                    <a:ea typeface="微软雅黑"/>
                    <a:cs typeface="微软雅黑"/>
                    <a:sym typeface="微软雅黑"/>
                  </a:rPr>
                  <a:t> </a:t>
                </a:r>
                <a:endParaRPr lang="en-US" sz="1100"/>
              </a:p>
            </p:txBody>
          </p:sp>
          <p:cxnSp>
            <p:nvCxnSpPr>
              <p:cNvPr name="Connector 12" id="12"/>
              <p:cNvCxnSpPr/>
              <p:nvPr/>
            </p:nvCxnSpPr>
            <p:spPr>
              <a:xfrm rot="0" flipH="false" flipV="false">
                <a:off x="10899576" y="7952344"/>
                <a:ext cx="3106817" cy="0"/>
              </a:xfrm>
              <a:prstGeom prst="straightConnector1">
                <a:avLst/>
              </a:prstGeom>
              <a:noFill/>
              <a:ln w="12700">
                <a:solidFill>
                  <a:srgbClr val="808080">
                    <a:alpha val="100000"/>
                  </a:srgbClr>
                </a:solidFill>
                <a:prstDash val="solid"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r">
              <a:lnSpc>
                <a:spcPct val="83333"/>
              </a:lnSpc>
              <a:defRPr sz="1300" b="false" i="false" u="none" strike="noStrike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algn="r"/>
            <a:endParaRPr/>
          </a:p>
        </p:txBody>
      </p:sp>
      <p:sp>
        <p:nvSpPr>
          <p:cNvPr name="AutoShape 3" id="3"/>
          <p:cNvSpPr/>
          <p:nvPr>
            <p:ph idx="15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l">
              <a:lnSpc>
                <a:spcPct val="75000"/>
              </a:lnSpc>
              <a:defRPr sz="2600" b="tru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37189" y="1586695"/>
            <a:ext cx="1681391" cy="6640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投资亮点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团队介绍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市场概况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痛点分析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商业模式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竞争格局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运营现状</a:t>
            </a:r>
          </a:p>
          <a:p>
            <a:pPr algn="l" marL="0" indent="0">
              <a:lnSpc>
                <a:spcPct val="104166"/>
              </a:lnSpc>
            </a:pPr>
            <a:r>
              <a:rPr lang="en-US" b="true" i="false" strike="noStrike" u="none" sz="24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未来规划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融资计划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1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832847" y="1510352"/>
            <a:ext cx="12550000" cy="69148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noAutofit/>
          </a:bodyPr>
          <a:lstStyle/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目的：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描述项目未来发展计划，来体现公司的战略前瞻性；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内容：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未来一段时间的发展策略如何（近期的发展目标、重点工作、实施路径、如何抢夺市场等）;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建议：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该部分体现创业者的战略思路，通过该模块可以告诉投资人，公司对未来的发展已经有了清晰的目标及规划，打消其疑虑；因此，建议创业者通过深度思考后来描述该模块。</a:t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4421873" y="3293660"/>
            <a:ext cx="9316873" cy="4931388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no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24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r">
              <a:lnSpc>
                <a:spcPct val="83333"/>
              </a:lnSpc>
              <a:defRPr sz="1300" b="false" i="false" u="none" strike="noStrike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algn="r"/>
            <a:endParaRPr/>
          </a:p>
        </p:txBody>
      </p:sp>
      <p:sp>
        <p:nvSpPr>
          <p:cNvPr name="AutoShape 4" id="4"/>
          <p:cNvSpPr/>
          <p:nvPr>
            <p:ph idx="15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l">
              <a:lnSpc>
                <a:spcPct val="75000"/>
              </a:lnSpc>
              <a:defRPr sz="2600" b="tru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37189" y="1586695"/>
            <a:ext cx="1681391" cy="66402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投资亮点</a:t>
            </a:r>
            <a:endParaRPr lang="en-US" sz="1100"/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团队介绍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市场概况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痛点分析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商业模式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竞争格局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运营现状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5F5F5F"/>
                </a:solidFill>
                <a:latin typeface="微软雅黑"/>
                <a:ea typeface="微软雅黑"/>
                <a:cs typeface="微软雅黑"/>
                <a:sym typeface="微软雅黑"/>
              </a:rPr>
              <a:t>未来规划</a:t>
            </a:r>
          </a:p>
          <a:p>
            <a:pPr algn="l" marL="0" indent="0">
              <a:lnSpc>
                <a:spcPct val="104166"/>
              </a:lnSpc>
            </a:pPr>
            <a:r>
              <a:rPr lang="en-US" b="true" i="false" strike="noStrike" u="none" sz="24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融资计划</a:t>
            </a:r>
          </a:p>
          <a:p>
            <a:pPr algn="l" marL="0" indent="0">
              <a:lnSpc>
                <a:spcPct val="104166"/>
              </a:lnSpc>
            </a:pPr>
            <a:r>
              <a:rPr lang="en-US" b="false" i="false" strike="noStrike" u="none" sz="21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832847" y="1510352"/>
            <a:ext cx="12550000" cy="691486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noAutofit/>
          </a:bodyPr>
          <a:lstStyle/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  <a:defRPr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目的：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回答融资计划；</a:t>
            </a:r>
            <a:endParaRPr lang="en-US" sz="1100"/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内容：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描述一年的财务预测及需要融资的金额、融资的用途；</a:t>
            </a:r>
          </a:p>
          <a:p>
            <a:pPr algn="l" indent="-228600" marL="228600">
              <a:lnSpc>
                <a:spcPct val="104166"/>
              </a:lnSpc>
              <a:buClr>
                <a:srgbClr val="7F7F7F"/>
              </a:buClr>
              <a:buChar char="•"/>
            </a:pPr>
            <a:r>
              <a:rPr lang="en-US" b="tru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建议：</a:t>
            </a:r>
            <a:r>
              <a:rPr lang="en-US" b="false" i="false" strike="noStrike" u="none" sz="18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融资的金额、稀释的股份、用途尽可能阐述清楚。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5222543" y="3956597"/>
          <a:ext cx="7881293" cy="4035087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19835"/>
                <a:gridCol w="1269553"/>
                <a:gridCol w="3670229"/>
                <a:gridCol w="1621676"/>
              </a:tblGrid>
              <a:tr h="695388">
                <a:tc rowSpan="2"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融资金额</a:t>
                      </a:r>
                      <a:endParaRPr lang="en-US" sz="1100"/>
                    </a:p>
                  </a:txBody>
                  <a:tcPr anchor="ctr" marL="88900" marR="88900" marT="50800" marB="50800">
                    <a:lnL cmpd="sng" algn="ctr" cap="flat" w="16933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933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 gridSpan="3"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83333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融资用途</a:t>
                      </a:r>
                      <a:endParaRPr lang="en-US" sz="1100"/>
                    </a:p>
                  </a:txBody>
                  <a:tcPr anchor="ctr" marL="88900" marR="88900" marT="50800" marB="50800">
                    <a:lnL cmpd="sng" algn="ctr" cap="flat" w="16933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933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93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80000"/>
                      </a:srgbClr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t" marL="127000" marR="127000" marT="63500" marB="63500">
                    <a:lnL cmpd="sng" algn="ctr" cap="flat" w="16933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933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93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t" marL="127000" marR="127000" marT="63500" marB="63500">
                    <a:lnL cmpd="sng" algn="ctr" cap="flat" w="16933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933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93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</a:tr>
              <a:tr h="668640">
                <a:tc vMerge="true"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t" marL="127000" marR="127000" marT="63500" marB="63500">
                    <a:lnL cmpd="sng" algn="ctr" cap="flat" w="16933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933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CB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比例</a:t>
                      </a:r>
                      <a:endParaRPr lang="en-US" sz="1100"/>
                    </a:p>
                  </a:txBody>
                  <a:tcPr anchor="ctr" marL="88900" marR="88900" marT="50800" marB="50800">
                    <a:lnL cmpd="sng" algn="ctr" cap="flat" w="1693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93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93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具体用途</a:t>
                      </a:r>
                      <a:endParaRPr lang="en-US" sz="1100"/>
                    </a:p>
                  </a:txBody>
                  <a:tcPr anchor="ctr" marL="88900" marR="88900" marT="50800" marB="50800">
                    <a:lnL cmpd="sng" algn="ctr" cap="flat" w="16933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93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93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备注</a:t>
                      </a:r>
                      <a:endParaRPr lang="en-US" sz="1100"/>
                    </a:p>
                  </a:txBody>
                  <a:tcPr anchor="ctr" marL="88900" marR="88900" marT="50800" marB="50800">
                    <a:lnL cmpd="sng" algn="ctr" cap="flat" w="1693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933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933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829851">
                <a:tc rowSpan="3"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XXXXX万</a:t>
                      </a:r>
                      <a:endParaRPr lang="en-US" sz="1100"/>
                    </a:p>
                  </a:txBody>
                  <a:tcPr anchor="ctr" marL="88900" marR="88900" marT="50800" marB="50800">
                    <a:lnL cmpd="sng" algn="ctr" cap="flat" w="16933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A%</a:t>
                      </a:r>
                      <a:endParaRPr lang="en-US" sz="1100"/>
                    </a:p>
                  </a:txBody>
                  <a:tcPr anchor="ctr" marL="88900" marR="88900" marT="50800" marB="50800">
                    <a:lnL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2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</a:t>
                      </a:r>
                      <a:endParaRPr lang="en-US" sz="1100"/>
                    </a:p>
                  </a:txBody>
                  <a:tcPr anchor="ctr" marL="88900" marR="88900" marT="50800" marB="50800">
                    <a:lnL cmpd="sng" algn="ctr" cap="flat" w="16933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2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</a:t>
                      </a:r>
                      <a:endParaRPr lang="en-US" sz="1100"/>
                    </a:p>
                  </a:txBody>
                  <a:tcPr anchor="ctr" marL="88900" marR="88900" marT="50800" marB="50800">
                    <a:lnL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933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920604">
                <a:tc vMerge="true"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t" marL="127000" marR="127000" marT="63500" marB="63500">
                    <a:lnL cmpd="sng" algn="ctr" cap="flat" w="16933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933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B%</a:t>
                      </a:r>
                      <a:endParaRPr lang="en-US" sz="1100"/>
                    </a:p>
                  </a:txBody>
                  <a:tcPr anchor="ctr" marL="88900" marR="88900" marT="50800" marB="50800">
                    <a:lnL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2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</a:t>
                      </a:r>
                      <a:endParaRPr lang="en-US" sz="1100"/>
                    </a:p>
                  </a:txBody>
                  <a:tcPr anchor="ctr" marL="88900" marR="88900" marT="50800" marB="50800">
                    <a:lnL cmpd="sng" algn="ctr" cap="flat" w="16933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2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</a:t>
                      </a:r>
                      <a:endParaRPr lang="en-US" sz="1100"/>
                    </a:p>
                  </a:txBody>
                  <a:tcPr anchor="ctr" marL="88900" marR="88900" marT="50800" marB="50800">
                    <a:lnL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933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920604">
                <a:tc vMerge="true">
                  <a:txBody>
                    <a:bodyPr anchor="t" rtlCol="false"/>
                    <a:lstStyle/>
                    <a:p>
                      <a:pPr algn="l">
                        <a:defRPr/>
                      </a:pPr>
                      <a:endParaRPr/>
                    </a:p>
                  </a:txBody>
                  <a:tcPr anchor="t" marL="127000" marR="127000" marT="63500" marB="63500">
                    <a:lnL cmpd="sng" algn="ctr" cap="flat" w="16933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6933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16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C%</a:t>
                      </a:r>
                      <a:endParaRPr lang="en-US" sz="1100"/>
                    </a:p>
                  </a:txBody>
                  <a:tcPr anchor="ctr" marL="88900" marR="88900" marT="50800" marB="50800">
                    <a:lnL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2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</a:t>
                      </a:r>
                      <a:endParaRPr lang="en-US" sz="1100"/>
                    </a:p>
                  </a:txBody>
                  <a:tcPr anchor="ctr" marL="88900" marR="88900" marT="50800" marB="50800">
                    <a:lnL cmpd="sng" algn="ctr" cap="flat" w="16933"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83333"/>
                        </a:lnSpc>
                        <a:defRPr/>
                      </a:pPr>
                      <a:r>
                        <a:rPr lang="en-US" b="false" i="false" strike="noStrike" u="none" sz="240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 </a:t>
                      </a:r>
                      <a:endParaRPr lang="en-US" sz="1100"/>
                    </a:p>
                  </a:txBody>
                  <a:tcPr anchor="ctr" marL="88900" marR="88900" marT="50800" marB="50800">
                    <a:lnL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6933"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467">
                      <a:solidFill>
                        <a:srgbClr val="B2B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6933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4601125" y="3477903"/>
            <a:ext cx="8830256" cy="4514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21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          本轮融资计划表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-1432647" flipH="false" flipV="false">
            <a:off x="11269413" y="3047785"/>
            <a:ext cx="1680409" cy="608285"/>
          </a:xfrm>
          <a:prstGeom prst="rect">
            <a:avLst/>
          </a:prstGeom>
          <a:noFill/>
          <a:ln w="12700">
            <a:solidFill>
              <a:srgbClr val="000000">
                <a:alpha val="100000"/>
              </a:srgbClr>
            </a:solidFill>
            <a:prstDash val="solid"/>
          </a:ln>
        </p:spPr>
        <p:txBody>
          <a:bodyPr anchor="ctr" rtlCol="false" wrap="square" lIns="127000" rIns="127000" tIns="63500" bIns="63500">
            <a:spAutoFit/>
          </a:bodyPr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false" i="false" strike="noStrike" u="none" sz="2100">
                <a:solidFill>
                  <a:srgbClr val="C00000"/>
                </a:solidFill>
                <a:latin typeface="微软雅黑"/>
                <a:ea typeface="微软雅黑"/>
                <a:cs typeface="微软雅黑"/>
                <a:sym typeface="微软雅黑"/>
              </a:rPr>
              <a:t>描述示例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4" type="body" sz="quarter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r">
              <a:lnSpc>
                <a:spcPct val="83333"/>
              </a:lnSpc>
              <a:defRPr sz="1300" b="false" i="false" u="none" strike="noStrike">
                <a:solidFill>
                  <a:srgbClr val="898989">
                    <a:alpha val="100000"/>
                  </a:srgbClr>
                </a:solidFill>
                <a:latin typeface="微软雅黑"/>
              </a:defRPr>
            </a:lvl1pPr>
          </a:lstStyle>
          <a:p>
            <a:pPr algn="r"/>
            <a:endParaRPr/>
          </a:p>
        </p:txBody>
      </p:sp>
      <p:sp>
        <p:nvSpPr>
          <p:cNvPr name="AutoShape 3" id="3"/>
          <p:cNvSpPr/>
          <p:nvPr>
            <p:ph idx="1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127000" rIns="127000" tIns="63500" bIns="63500">
            <a:spAutoFit/>
          </a:bodyPr>
          <a:lstStyle>
            <a:lvl1pPr algn="l">
              <a:lnSpc>
                <a:spcPct val="75000"/>
              </a:lnSpc>
              <a:defRPr sz="2600" b="true" i="false" u="none" strike="noStrike">
                <a:solidFill>
                  <a:srgbClr val="00000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marL="0" indent="0">
              <a:lnSpc>
                <a:spcPct val="75000"/>
              </a:lnSpc>
            </a:pP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BP的制作需要引起创业者的重视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65516" y="2707696"/>
            <a:ext cx="1645671" cy="400700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127000" rIns="127000" tIns="63500" bIns="63500">
            <a:spAutoFit/>
          </a:bodyPr>
          <a:lstStyle/>
          <a:p>
            <a:pPr algn="ctr" marL="0" indent="0">
              <a:lnSpc>
                <a:spcPct val="104166"/>
              </a:lnSpc>
              <a:defRPr/>
            </a:pP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最</a:t>
            </a:r>
            <a:endParaRPr lang="en-US" sz="1100"/>
          </a:p>
          <a:p>
            <a:pPr algn="ctr" marL="0" indent="0">
              <a:lnSpc>
                <a:spcPct val="104166"/>
              </a:lnSpc>
            </a:pPr>
            <a:r>
              <a:rPr lang="en-US" b="true" i="false" strike="noStrike" u="none" sz="26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后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832847" y="1483581"/>
            <a:ext cx="12544112" cy="70056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127000" rIns="127000" tIns="63500" bIns="63500">
            <a:spAutoFit/>
          </a:bodyPr>
          <a:lstStyle/>
          <a:p>
            <a:pPr algn="ctr" marL="0" indent="0">
              <a:lnSpc>
                <a:spcPct val="104166"/>
              </a:lnSpc>
              <a:defRPr/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lang="en-US" sz="2400"/>
          </a:p>
          <a:p>
            <a:pPr algn="ctr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sz="2400"/>
          </a:p>
          <a:p>
            <a:pPr algn="ctr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sz="2400"/>
          </a:p>
          <a:p>
            <a:pPr algn="ctr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项目可以考虑采用以太的模板，</a:t>
            </a:r>
            <a:r>
              <a:rPr lang="en-US" b="true" i="false" strike="noStrike" u="sng" sz="2400">
                <a:solidFill>
                  <a:srgbClr val="FFC000"/>
                </a:solidFill>
                <a:latin typeface="微软雅黑"/>
                <a:ea typeface="微软雅黑"/>
                <a:cs typeface="微软雅黑"/>
                <a:sym typeface="微软雅黑"/>
              </a:rPr>
              <a:t>亦可以使用你公司的模板，</a:t>
            </a:r>
          </a:p>
          <a:p>
            <a:pPr algn="ctr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但请务必保证内容模块、格式（尤其是总体PAGE不超过12-15页）方面</a:t>
            </a:r>
          </a:p>
          <a:p>
            <a:pPr algn="ctr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7F7F7F"/>
                </a:solidFill>
                <a:latin typeface="微软雅黑"/>
                <a:ea typeface="微软雅黑"/>
                <a:cs typeface="微软雅黑"/>
                <a:sym typeface="微软雅黑"/>
              </a:rPr>
              <a:t>遵守以太过往从众多项目中总结出来的经验，以赢得更多投资人的关注！</a:t>
            </a:r>
          </a:p>
          <a:p>
            <a:pPr algn="ctr" marL="0" indent="0">
              <a:lnSpc>
                <a:spcPct val="104166"/>
              </a:lnSpc>
            </a:pPr>
            <a:r>
              <a:rPr lang="en-US" b="false" i="false" strike="noStrike" u="none" sz="2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/>
            </a:r>
            <a:endParaRPr sz="2400"/>
          </a:p>
          <a:p>
            <a:pPr algn="ctr" marL="0" indent="0">
              <a:lnSpc>
                <a:spcPct val="104166"/>
              </a:lnSpc>
            </a:pPr>
            <a:r>
              <a:rPr lang="en-US" b="true" i="false" strike="noStrike" u="none" sz="2600">
                <a:solidFill>
                  <a:srgbClr val="002060"/>
                </a:solidFill>
                <a:latin typeface="微软雅黑"/>
                <a:ea typeface="微软雅黑"/>
                <a:cs typeface="微软雅黑"/>
                <a:sym typeface="微软雅黑"/>
              </a:rPr>
              <a:t>祝融资顺利！！！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